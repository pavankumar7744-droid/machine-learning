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DA62C54-0F0A-07AA-E220-6475F927A39A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Solution &amp; Design" id="{ECC9947F-CAD3-2F1F-1B11-4B22D5820F53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Data &amp; Results" id="{B9CDCF13-0CAA-F3A7-2247-B3D6F3424B36}">
          <p14:sldIdLst>
            <p14:sldId id="268"/>
            <p14:sldId id="269"/>
            <p14:sldId id="270"/>
            <p14:sldId id="271"/>
          </p14:sldIdLst>
        </p14:section>
        <p14:section name="Impact &amp; Outlook" id="{F1FFC5A0-07B7-2E60-FA06-85BCCCA4D214}">
          <p14:sldIdLst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B7185"/>
              </a:solidFill>
              <a:ln w="12700" cap="flat">
                <a:solidFill>
                  <a:srgbClr val="1A2744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1C-4CE9-9CE6-4AAC825BA87F}"/>
              </c:ext>
            </c:extLst>
          </c:dPt>
          <c:dPt>
            <c:idx val="1"/>
            <c:bubble3D val="0"/>
            <c:spPr>
              <a:solidFill>
                <a:srgbClr val="22D3EE"/>
              </a:solidFill>
              <a:ln w="12700" cap="flat">
                <a:solidFill>
                  <a:srgbClr val="1A2744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1C-4CE9-9CE6-4AAC825BA87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0B1220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A1C-4CE9-9CE6-4AAC825BA87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0B1220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A1C-4CE9-9CE6-4AAC825BA87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purchase (10,422)</c:v>
                </c:pt>
                <c:pt idx="1">
                  <c:v>Purchase (1,908)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10422</c:v>
                </c:pt>
                <c:pt idx="1">
                  <c:v>1908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A1C-4CE9-9CE6-4AAC825BA8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1384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E-Commerce ML Intelligence Platform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640080" y="64008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E-Commerce ML Intelligence Platform</a:t>
            </a:r>
            <a:endParaRPr lang="en-US" sz="4400" dirty="0"/>
          </a:p>
        </p:txBody>
      </p:sp>
      <p:sp>
        <p:nvSpPr>
          <p:cNvPr id="3" name="text_2"/>
          <p:cNvSpPr txBox="1"/>
          <p:nvPr/>
        </p:nvSpPr>
        <p:spPr>
          <a:xfrm>
            <a:off x="640080" y="228600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Real-Time Purchase Intention Prediction &amp; Sales Demand Forecasting</a:t>
            </a:r>
            <a:endParaRPr lang="en-US" sz="2200" dirty="0"/>
          </a:p>
        </p:txBody>
      </p:sp>
      <p:sp>
        <p:nvSpPr>
          <p:cNvPr id="4" name="text_3"/>
          <p:cNvSpPr txBox="1"/>
          <p:nvPr/>
        </p:nvSpPr>
        <p:spPr>
          <a:xfrm>
            <a:off x="640080" y="32461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An End-to-End Machine Learning and Time-Series Analytics System with Full-Stack Deployment</a:t>
            </a:r>
            <a:endParaRPr lang="en-US" sz="1400" dirty="0"/>
          </a:p>
        </p:txBody>
      </p:sp>
      <p:sp>
        <p:nvSpPr>
          <p:cNvPr id="5" name="card_4"/>
          <p:cNvSpPr/>
          <p:nvPr/>
        </p:nvSpPr>
        <p:spPr>
          <a:xfrm>
            <a:off x="640080" y="4526280"/>
            <a:ext cx="301752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6" name="text_5"/>
          <p:cNvSpPr txBox="1"/>
          <p:nvPr/>
        </p:nvSpPr>
        <p:spPr>
          <a:xfrm>
            <a:off x="777240" y="4617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STUDENT NAME(S) &amp; ROLL NO(S)</a:t>
            </a:r>
            <a:endParaRPr lang="en-US" sz="1000" dirty="0"/>
          </a:p>
        </p:txBody>
      </p:sp>
      <p:sp>
        <p:nvSpPr>
          <p:cNvPr id="7" name="text_6"/>
          <p:cNvSpPr txBox="1"/>
          <p:nvPr/>
        </p:nvSpPr>
        <p:spPr>
          <a:xfrm>
            <a:off x="777240" y="484787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chemeClr val="bg1"/>
                </a:solidFill>
              </a:rPr>
              <a:t>Kompally</a:t>
            </a:r>
            <a:r>
              <a:rPr lang="en-US" sz="1300" dirty="0">
                <a:solidFill>
                  <a:schemeClr val="bg1"/>
                </a:solidFill>
              </a:rPr>
              <a:t> Pavan Kumar – 2520090038</a:t>
            </a:r>
          </a:p>
          <a:p>
            <a:pPr marL="0" indent="0">
              <a:buNone/>
            </a:pPr>
            <a:r>
              <a:rPr lang="en-US" sz="1300" dirty="0" err="1">
                <a:solidFill>
                  <a:schemeClr val="bg1"/>
                </a:solidFill>
              </a:rPr>
              <a:t>Potu</a:t>
            </a:r>
            <a:r>
              <a:rPr lang="en-US" sz="1300" dirty="0">
                <a:solidFill>
                  <a:schemeClr val="bg1"/>
                </a:solidFill>
              </a:rPr>
              <a:t> Harsha Vardhan - 2520090180</a:t>
            </a:r>
            <a:endParaRPr lang="en-US" sz="1300" dirty="0"/>
          </a:p>
        </p:txBody>
      </p:sp>
      <p:sp>
        <p:nvSpPr>
          <p:cNvPr id="8" name="card_7"/>
          <p:cNvSpPr/>
          <p:nvPr/>
        </p:nvSpPr>
        <p:spPr>
          <a:xfrm>
            <a:off x="3794760" y="4526280"/>
            <a:ext cx="301752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9" name="text_8"/>
          <p:cNvSpPr txBox="1"/>
          <p:nvPr/>
        </p:nvSpPr>
        <p:spPr>
          <a:xfrm>
            <a:off x="3931920" y="4617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GUIDE / SUPERVISOR</a:t>
            </a:r>
            <a:endParaRPr lang="en-US" sz="1000" dirty="0"/>
          </a:p>
        </p:txBody>
      </p:sp>
      <p:sp>
        <p:nvSpPr>
          <p:cNvPr id="10" name="text_9"/>
          <p:cNvSpPr txBox="1"/>
          <p:nvPr/>
        </p:nvSpPr>
        <p:spPr>
          <a:xfrm>
            <a:off x="3931920" y="4873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M. Sanjeev Kumar – Asst. Professor</a:t>
            </a:r>
          </a:p>
        </p:txBody>
      </p:sp>
      <p:sp>
        <p:nvSpPr>
          <p:cNvPr id="11" name="card_10"/>
          <p:cNvSpPr/>
          <p:nvPr/>
        </p:nvSpPr>
        <p:spPr>
          <a:xfrm>
            <a:off x="640080" y="5440680"/>
            <a:ext cx="301752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12" name="text_11"/>
          <p:cNvSpPr txBox="1"/>
          <p:nvPr/>
        </p:nvSpPr>
        <p:spPr>
          <a:xfrm>
            <a:off x="777240" y="5532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DEPARTMENT</a:t>
            </a:r>
            <a:endParaRPr lang="en-US" sz="1000" dirty="0"/>
          </a:p>
        </p:txBody>
      </p:sp>
      <p:sp>
        <p:nvSpPr>
          <p:cNvPr id="13" name="text_12"/>
          <p:cNvSpPr txBox="1"/>
          <p:nvPr/>
        </p:nvSpPr>
        <p:spPr>
          <a:xfrm>
            <a:off x="1545854" y="5737860"/>
            <a:ext cx="13621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CSIT</a:t>
            </a:r>
            <a:endParaRPr lang="en-US" dirty="0"/>
          </a:p>
        </p:txBody>
      </p:sp>
      <p:sp>
        <p:nvSpPr>
          <p:cNvPr id="14" name="card_13"/>
          <p:cNvSpPr/>
          <p:nvPr/>
        </p:nvSpPr>
        <p:spPr>
          <a:xfrm>
            <a:off x="3794760" y="5440680"/>
            <a:ext cx="301752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15" name="text_14"/>
          <p:cNvSpPr txBox="1"/>
          <p:nvPr/>
        </p:nvSpPr>
        <p:spPr>
          <a:xfrm>
            <a:off x="3931920" y="5532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/>
                </a:solidFill>
              </a:rPr>
              <a:t>COLLEGE / UNIVERSITY  ·  YEAR</a:t>
            </a:r>
            <a:endParaRPr lang="en-US" sz="1000" dirty="0"/>
          </a:p>
        </p:txBody>
      </p:sp>
      <p:sp>
        <p:nvSpPr>
          <p:cNvPr id="16" name="text_15"/>
          <p:cNvSpPr txBox="1"/>
          <p:nvPr/>
        </p:nvSpPr>
        <p:spPr>
          <a:xfrm>
            <a:off x="3949172" y="58054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KLH </a:t>
            </a:r>
            <a:r>
              <a:rPr lang="en-US" sz="1300" dirty="0" err="1">
                <a:solidFill>
                  <a:schemeClr val="bg1"/>
                </a:solidFill>
              </a:rPr>
              <a:t>Bachupally</a:t>
            </a:r>
            <a:r>
              <a:rPr lang="en-US" sz="1300" dirty="0">
                <a:solidFill>
                  <a:schemeClr val="bg1"/>
                </a:solidFill>
              </a:rPr>
              <a:t> ·  2025 – 2026</a:t>
            </a:r>
            <a:endParaRPr lang="en-US" sz="1300" dirty="0"/>
          </a:p>
        </p:txBody>
      </p:sp>
      <p:sp>
        <p:nvSpPr>
          <p:cNvPr id="17" name="arrow_16"/>
          <p:cNvSpPr/>
          <p:nvPr/>
        </p:nvSpPr>
        <p:spPr>
          <a:xfrm>
            <a:off x="9418320" y="2240280"/>
            <a:ext cx="0" cy="32004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arrow_17"/>
          <p:cNvSpPr/>
          <p:nvPr/>
        </p:nvSpPr>
        <p:spPr>
          <a:xfrm>
            <a:off x="9418320" y="4297680"/>
            <a:ext cx="0" cy="32004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link_18"/>
          <p:cNvSpPr/>
          <p:nvPr/>
        </p:nvSpPr>
        <p:spPr>
          <a:xfrm>
            <a:off x="8138160" y="3429000"/>
            <a:ext cx="4114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</a:ln>
        </p:spPr>
      </p:sp>
      <p:sp>
        <p:nvSpPr>
          <p:cNvPr id="20" name="link_19"/>
          <p:cNvSpPr/>
          <p:nvPr/>
        </p:nvSpPr>
        <p:spPr>
          <a:xfrm>
            <a:off x="10287000" y="3429000"/>
            <a:ext cx="411480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</a:ln>
        </p:spPr>
      </p:sp>
      <p:sp>
        <p:nvSpPr>
          <p:cNvPr id="21" name="node_20"/>
          <p:cNvSpPr txBox="1"/>
          <p:nvPr/>
        </p:nvSpPr>
        <p:spPr>
          <a:xfrm>
            <a:off x="8641080" y="685800"/>
            <a:ext cx="1554480" cy="1554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Purchase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Intent</a:t>
            </a:r>
            <a:endParaRPr lang="en-US" sz="1600" dirty="0"/>
          </a:p>
        </p:txBody>
      </p:sp>
      <p:sp>
        <p:nvSpPr>
          <p:cNvPr id="22" name="node_21"/>
          <p:cNvSpPr txBox="1"/>
          <p:nvPr/>
        </p:nvSpPr>
        <p:spPr>
          <a:xfrm>
            <a:off x="8549640" y="256032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ML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Platform</a:t>
            </a:r>
            <a:endParaRPr lang="en-US" sz="2000" dirty="0"/>
          </a:p>
        </p:txBody>
      </p:sp>
      <p:sp>
        <p:nvSpPr>
          <p:cNvPr id="23" name="node_22"/>
          <p:cNvSpPr txBox="1"/>
          <p:nvPr/>
        </p:nvSpPr>
        <p:spPr>
          <a:xfrm>
            <a:off x="8641080" y="4617720"/>
            <a:ext cx="1554480" cy="1554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Sales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Forecast</a:t>
            </a:r>
            <a:endParaRPr lang="en-US" sz="1600" dirty="0"/>
          </a:p>
        </p:txBody>
      </p:sp>
      <p:sp>
        <p:nvSpPr>
          <p:cNvPr id="24" name="node_23"/>
          <p:cNvSpPr txBox="1"/>
          <p:nvPr/>
        </p:nvSpPr>
        <p:spPr>
          <a:xfrm>
            <a:off x="7040880" y="2880360"/>
            <a:ext cx="1097280" cy="109728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React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UI</a:t>
            </a:r>
            <a:endParaRPr lang="en-US" sz="1400" dirty="0"/>
          </a:p>
        </p:txBody>
      </p:sp>
      <p:sp>
        <p:nvSpPr>
          <p:cNvPr id="25" name="node_24"/>
          <p:cNvSpPr txBox="1"/>
          <p:nvPr/>
        </p:nvSpPr>
        <p:spPr>
          <a:xfrm>
            <a:off x="10698480" y="2880360"/>
            <a:ext cx="1097280" cy="10972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FastAPI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Introduction</a:t>
            </a:r>
            <a:endParaRPr lang="en-US" sz="3400" dirty="0"/>
          </a:p>
        </p:txBody>
      </p:sp>
      <p:sp>
        <p:nvSpPr>
          <p:cNvPr id="3" name="iconbg_25"/>
          <p:cNvSpPr/>
          <p:nvPr/>
        </p:nvSpPr>
        <p:spPr>
          <a:xfrm>
            <a:off x="548640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_26" descr="FaChart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1665122"/>
            <a:ext cx="373075" cy="373075"/>
          </a:xfrm>
          <a:prstGeom prst="rect">
            <a:avLst/>
          </a:prstGeom>
        </p:spPr>
      </p:pic>
      <p:sp>
        <p:nvSpPr>
          <p:cNvPr id="5" name="text_27"/>
          <p:cNvSpPr txBox="1"/>
          <p:nvPr/>
        </p:nvSpPr>
        <p:spPr>
          <a:xfrm>
            <a:off x="160020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Background</a:t>
            </a:r>
            <a:endParaRPr lang="en-US" sz="2000" dirty="0"/>
          </a:p>
        </p:txBody>
      </p:sp>
      <p:sp>
        <p:nvSpPr>
          <p:cNvPr id="6" name="text_28"/>
          <p:cNvSpPr txBox="1"/>
          <p:nvPr/>
        </p:nvSpPr>
        <p:spPr>
          <a:xfrm>
            <a:off x="1600200" y="18745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E-commerce traffic is growing fast, yet cart conversion stays at only 2.5% – 3.5%, so revenue is lost.</a:t>
            </a:r>
            <a:endParaRPr lang="en-US" sz="1400" dirty="0"/>
          </a:p>
        </p:txBody>
      </p:sp>
      <p:sp>
        <p:nvSpPr>
          <p:cNvPr id="7" name="iconbg_29"/>
          <p:cNvSpPr/>
          <p:nvPr/>
        </p:nvSpPr>
        <p:spPr>
          <a:xfrm>
            <a:off x="548640" y="3090672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_30" descr="FaBalanceSca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3292754"/>
            <a:ext cx="373075" cy="373075"/>
          </a:xfrm>
          <a:prstGeom prst="rect">
            <a:avLst/>
          </a:prstGeom>
        </p:spPr>
      </p:pic>
      <p:sp>
        <p:nvSpPr>
          <p:cNvPr id="9" name="text_31"/>
          <p:cNvSpPr txBox="1"/>
          <p:nvPr/>
        </p:nvSpPr>
        <p:spPr>
          <a:xfrm>
            <a:off x="1600200" y="30906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Two disconnected problems</a:t>
            </a:r>
            <a:endParaRPr lang="en-US" sz="2000" dirty="0"/>
          </a:p>
        </p:txBody>
      </p:sp>
      <p:sp>
        <p:nvSpPr>
          <p:cNvPr id="10" name="text_32"/>
          <p:cNvSpPr txBox="1"/>
          <p:nvPr/>
        </p:nvSpPr>
        <p:spPr>
          <a:xfrm>
            <a:off x="1600200" y="350215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Will this visitor buy now? And how much demand is coming, so stock is neither short nor excessive?</a:t>
            </a:r>
            <a:endParaRPr lang="en-US" sz="1400" dirty="0"/>
          </a:p>
        </p:txBody>
      </p:sp>
      <p:sp>
        <p:nvSpPr>
          <p:cNvPr id="11" name="iconbg_33"/>
          <p:cNvSpPr/>
          <p:nvPr/>
        </p:nvSpPr>
        <p:spPr>
          <a:xfrm>
            <a:off x="548640" y="4718304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_34" descr="FaBo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" y="4920386"/>
            <a:ext cx="373075" cy="373075"/>
          </a:xfrm>
          <a:prstGeom prst="rect">
            <a:avLst/>
          </a:prstGeom>
        </p:spPr>
      </p:pic>
      <p:sp>
        <p:nvSpPr>
          <p:cNvPr id="13" name="text_35"/>
          <p:cNvSpPr txBox="1"/>
          <p:nvPr/>
        </p:nvSpPr>
        <p:spPr>
          <a:xfrm>
            <a:off x="1600200" y="47183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Why it is needed</a:t>
            </a:r>
            <a:endParaRPr lang="en-US" sz="2000" dirty="0"/>
          </a:p>
        </p:txBody>
      </p:sp>
      <p:sp>
        <p:nvSpPr>
          <p:cNvPr id="14" name="text_36"/>
          <p:cNvSpPr txBox="1"/>
          <p:nvPr/>
        </p:nvSpPr>
        <p:spPr>
          <a:xfrm>
            <a:off x="1600200" y="5129784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High acquisition costs demand sub-second personalization and demand forecasts tied to user behavior.</a:t>
            </a:r>
            <a:endParaRPr lang="en-US" sz="1400" dirty="0"/>
          </a:p>
        </p:txBody>
      </p:sp>
      <p:sp>
        <p:nvSpPr>
          <p:cNvPr id="15" name="venn_37"/>
          <p:cNvSpPr/>
          <p:nvPr/>
        </p:nvSpPr>
        <p:spPr>
          <a:xfrm>
            <a:off x="8229600" y="1371600"/>
            <a:ext cx="2377440" cy="237744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venn_38"/>
          <p:cNvSpPr/>
          <p:nvPr/>
        </p:nvSpPr>
        <p:spPr>
          <a:xfrm>
            <a:off x="7132320" y="3383280"/>
            <a:ext cx="2377440" cy="2377440"/>
          </a:xfrm>
          <a:prstGeom prst="ellipse">
            <a:avLst/>
          </a:prstGeom>
          <a:solidFill>
            <a:schemeClr val="accent2">
              <a:alpha val="45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7" name="venn_39"/>
          <p:cNvSpPr/>
          <p:nvPr/>
        </p:nvSpPr>
        <p:spPr>
          <a:xfrm>
            <a:off x="9144000" y="3383280"/>
            <a:ext cx="2377440" cy="2377440"/>
          </a:xfrm>
          <a:prstGeom prst="ellipse">
            <a:avLst/>
          </a:prstGeom>
          <a:solidFill>
            <a:schemeClr val="accent3">
              <a:alpha val="45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8" name="text_40"/>
          <p:cNvSpPr txBox="1"/>
          <p:nvPr/>
        </p:nvSpPr>
        <p:spPr>
          <a:xfrm>
            <a:off x="859536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Clickstream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Analytics</a:t>
            </a:r>
            <a:endParaRPr lang="en-US" sz="1500" dirty="0"/>
          </a:p>
        </p:txBody>
      </p:sp>
      <p:sp>
        <p:nvSpPr>
          <p:cNvPr id="19" name="text_41"/>
          <p:cNvSpPr txBox="1"/>
          <p:nvPr/>
        </p:nvSpPr>
        <p:spPr>
          <a:xfrm>
            <a:off x="731520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Supervised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Classification</a:t>
            </a:r>
            <a:endParaRPr lang="en-US" sz="1400" dirty="0"/>
          </a:p>
        </p:txBody>
      </p:sp>
      <p:sp>
        <p:nvSpPr>
          <p:cNvPr id="20" name="text_42"/>
          <p:cNvSpPr txBox="1"/>
          <p:nvPr/>
        </p:nvSpPr>
        <p:spPr>
          <a:xfrm>
            <a:off x="996696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Time-Series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Forecasting</a:t>
            </a:r>
            <a:endParaRPr lang="en-US" sz="1400" dirty="0"/>
          </a:p>
        </p:txBody>
      </p:sp>
      <p:sp>
        <p:nvSpPr>
          <p:cNvPr id="21" name="text_43"/>
          <p:cNvSpPr txBox="1"/>
          <p:nvPr/>
        </p:nvSpPr>
        <p:spPr>
          <a:xfrm>
            <a:off x="8732520" y="3749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Unified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platform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3" name="card_44"/>
          <p:cNvSpPr/>
          <p:nvPr/>
        </p:nvSpPr>
        <p:spPr>
          <a:xfrm>
            <a:off x="54864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4" name="iconbg_45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con_46" descr="FaBalanceSca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766621"/>
            <a:ext cx="307238" cy="307238"/>
          </a:xfrm>
          <a:prstGeom prst="rect">
            <a:avLst/>
          </a:prstGeom>
        </p:spPr>
      </p:pic>
      <p:sp>
        <p:nvSpPr>
          <p:cNvPr id="6" name="text_47"/>
          <p:cNvSpPr txBox="1"/>
          <p:nvPr/>
        </p:nvSpPr>
        <p:spPr>
          <a:xfrm>
            <a:off x="1554480" y="1645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Severe Class Imbalance</a:t>
            </a:r>
            <a:endParaRPr lang="en-US" sz="1800" dirty="0"/>
          </a:p>
        </p:txBody>
      </p:sp>
      <p:sp>
        <p:nvSpPr>
          <p:cNvPr id="7" name="text_48"/>
          <p:cNvSpPr txBox="1"/>
          <p:nvPr/>
        </p:nvSpPr>
        <p:spPr>
          <a:xfrm>
            <a:off x="777240" y="2423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Only about 15.5% of real-world sessions end in a purchase; 84.5% do not.</a:t>
            </a:r>
            <a:endParaRPr lang="en-US" sz="1400" dirty="0"/>
          </a:p>
        </p:txBody>
      </p:sp>
      <p:sp>
        <p:nvSpPr>
          <p:cNvPr id="8" name="card_49"/>
          <p:cNvSpPr/>
          <p:nvPr/>
        </p:nvSpPr>
        <p:spPr>
          <a:xfrm>
            <a:off x="429768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9" name="iconbg_50"/>
          <p:cNvSpPr/>
          <p:nvPr/>
        </p:nvSpPr>
        <p:spPr>
          <a:xfrm>
            <a:off x="4526280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_51" descr="Fa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701" y="1766621"/>
            <a:ext cx="307238" cy="307238"/>
          </a:xfrm>
          <a:prstGeom prst="rect">
            <a:avLst/>
          </a:prstGeom>
        </p:spPr>
      </p:pic>
      <p:sp>
        <p:nvSpPr>
          <p:cNvPr id="11" name="text_52"/>
          <p:cNvSpPr txBox="1"/>
          <p:nvPr/>
        </p:nvSpPr>
        <p:spPr>
          <a:xfrm>
            <a:off x="5303520" y="1645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Feature Leakage</a:t>
            </a:r>
            <a:endParaRPr lang="en-US" sz="1800" dirty="0"/>
          </a:p>
        </p:txBody>
      </p:sp>
      <p:sp>
        <p:nvSpPr>
          <p:cNvPr id="12" name="text_53"/>
          <p:cNvSpPr txBox="1"/>
          <p:nvPr/>
        </p:nvSpPr>
        <p:spPr>
          <a:xfrm>
            <a:off x="4526280" y="2423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Post-conversion metrics such as PageValues leak into early-funnel prediction.</a:t>
            </a:r>
            <a:endParaRPr lang="en-US" sz="1400" dirty="0"/>
          </a:p>
        </p:txBody>
      </p:sp>
      <p:sp>
        <p:nvSpPr>
          <p:cNvPr id="13" name="card_54"/>
          <p:cNvSpPr/>
          <p:nvPr/>
        </p:nvSpPr>
        <p:spPr>
          <a:xfrm>
            <a:off x="804672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14" name="iconbg_55"/>
          <p:cNvSpPr/>
          <p:nvPr/>
        </p:nvSpPr>
        <p:spPr>
          <a:xfrm>
            <a:off x="827532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con_56" descr="FaClo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1741" y="1766621"/>
            <a:ext cx="307238" cy="307238"/>
          </a:xfrm>
          <a:prstGeom prst="rect">
            <a:avLst/>
          </a:prstGeom>
        </p:spPr>
      </p:pic>
      <p:sp>
        <p:nvSpPr>
          <p:cNvPr id="16" name="text_57"/>
          <p:cNvSpPr txBox="1"/>
          <p:nvPr/>
        </p:nvSpPr>
        <p:spPr>
          <a:xfrm>
            <a:off x="9052560" y="1645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Deep-Model Latency</a:t>
            </a:r>
            <a:endParaRPr lang="en-US" sz="1800" dirty="0"/>
          </a:p>
        </p:txBody>
      </p:sp>
      <p:sp>
        <p:nvSpPr>
          <p:cNvPr id="17" name="text_58"/>
          <p:cNvSpPr txBox="1"/>
          <p:nvPr/>
        </p:nvSpPr>
        <p:spPr>
          <a:xfrm>
            <a:off x="8275320" y="2423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Recurrent deep models add delay that real-time checkout prompts cannot afford.</a:t>
            </a:r>
            <a:endParaRPr lang="en-US" sz="1400" dirty="0"/>
          </a:p>
        </p:txBody>
      </p:sp>
      <p:sp>
        <p:nvSpPr>
          <p:cNvPr id="18" name="text_59"/>
          <p:cNvSpPr txBox="1"/>
          <p:nvPr/>
        </p:nvSpPr>
        <p:spPr>
          <a:xfrm>
            <a:off x="548640" y="4023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Class distribution of shopping sessions</a:t>
            </a:r>
            <a:endParaRPr lang="en-US" sz="1600" dirty="0"/>
          </a:p>
        </p:txBody>
      </p:sp>
      <p:sp>
        <p:nvSpPr>
          <p:cNvPr id="19" name="box_60"/>
          <p:cNvSpPr txBox="1"/>
          <p:nvPr/>
        </p:nvSpPr>
        <p:spPr>
          <a:xfrm>
            <a:off x="548640" y="4480560"/>
            <a:ext cx="5408676" cy="685800"/>
          </a:xfrm>
          <a:prstGeom prst="roundRect">
            <a:avLst>
              <a:gd name="adj" fmla="val 6667"/>
            </a:avLst>
          </a:prstGeom>
          <a:solidFill>
            <a:schemeClr val="accent5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No purchase  84.5%</a:t>
            </a:r>
            <a:endParaRPr lang="en-US" sz="1600" dirty="0"/>
          </a:p>
        </p:txBody>
      </p:sp>
      <p:sp>
        <p:nvSpPr>
          <p:cNvPr id="20" name="box_61"/>
          <p:cNvSpPr txBox="1"/>
          <p:nvPr/>
        </p:nvSpPr>
        <p:spPr>
          <a:xfrm>
            <a:off x="5957316" y="4480560"/>
            <a:ext cx="992124" cy="6858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15.5%</a:t>
            </a:r>
            <a:endParaRPr lang="en-US" sz="1600" dirty="0"/>
          </a:p>
        </p:txBody>
      </p:sp>
      <p:sp>
        <p:nvSpPr>
          <p:cNvPr id="21" name="text_62"/>
          <p:cNvSpPr txBox="1"/>
          <p:nvPr/>
        </p:nvSpPr>
        <p:spPr>
          <a:xfrm>
            <a:off x="548640" y="53949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Analytics tools (Google, Adobe) report only after the visitor has already left, and cold-start users have no profile for static rules.</a:t>
            </a:r>
            <a:endParaRPr lang="en-US" sz="1400" dirty="0"/>
          </a:p>
        </p:txBody>
      </p:sp>
      <p:sp>
        <p:nvSpPr>
          <p:cNvPr id="22" name="text_63"/>
          <p:cNvSpPr txBox="1"/>
          <p:nvPr/>
        </p:nvSpPr>
        <p:spPr>
          <a:xfrm>
            <a:off x="7498080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Who is affected</a:t>
            </a:r>
            <a:endParaRPr lang="en-US" sz="1600" dirty="0"/>
          </a:p>
        </p:txBody>
      </p:sp>
      <p:sp>
        <p:nvSpPr>
          <p:cNvPr id="23" name="iconbg_64"/>
          <p:cNvSpPr/>
          <p:nvPr/>
        </p:nvSpPr>
        <p:spPr>
          <a:xfrm>
            <a:off x="7498080" y="4480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_65" descr="FaSto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952" y="4599432"/>
            <a:ext cx="219456" cy="219456"/>
          </a:xfrm>
          <a:prstGeom prst="rect">
            <a:avLst/>
          </a:prstGeom>
        </p:spPr>
      </p:pic>
      <p:sp>
        <p:nvSpPr>
          <p:cNvPr id="25" name="text_66"/>
          <p:cNvSpPr txBox="1"/>
          <p:nvPr/>
        </p:nvSpPr>
        <p:spPr>
          <a:xfrm>
            <a:off x="8138160" y="4480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Merchants: lost sales, wasted promo spend</a:t>
            </a:r>
            <a:endParaRPr lang="en-US" sz="1400" dirty="0"/>
          </a:p>
        </p:txBody>
      </p:sp>
      <p:sp>
        <p:nvSpPr>
          <p:cNvPr id="26" name="iconbg_67"/>
          <p:cNvSpPr/>
          <p:nvPr/>
        </p:nvSpPr>
        <p:spPr>
          <a:xfrm>
            <a:off x="7498080" y="50749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icon_68" descr="FaBox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952" y="5193792"/>
            <a:ext cx="219456" cy="219456"/>
          </a:xfrm>
          <a:prstGeom prst="rect">
            <a:avLst/>
          </a:prstGeom>
        </p:spPr>
      </p:pic>
      <p:sp>
        <p:nvSpPr>
          <p:cNvPr id="28" name="text_69"/>
          <p:cNvSpPr txBox="1"/>
          <p:nvPr/>
        </p:nvSpPr>
        <p:spPr>
          <a:xfrm>
            <a:off x="8138160" y="5074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Inventory managers: stockouts &amp; overstock</a:t>
            </a:r>
            <a:endParaRPr lang="en-US" sz="1400" dirty="0"/>
          </a:p>
        </p:txBody>
      </p:sp>
      <p:sp>
        <p:nvSpPr>
          <p:cNvPr id="29" name="iconbg_70"/>
          <p:cNvSpPr/>
          <p:nvPr/>
        </p:nvSpPr>
        <p:spPr>
          <a:xfrm>
            <a:off x="7498080" y="56692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con_71" descr="FaUser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952" y="5788152"/>
            <a:ext cx="219456" cy="219456"/>
          </a:xfrm>
          <a:prstGeom prst="rect">
            <a:avLst/>
          </a:prstGeom>
        </p:spPr>
      </p:pic>
      <p:sp>
        <p:nvSpPr>
          <p:cNvPr id="31" name="text_72"/>
          <p:cNvSpPr txBox="1"/>
          <p:nvPr/>
        </p:nvSpPr>
        <p:spPr>
          <a:xfrm>
            <a:off x="8138160" y="5669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Shoppers: generic, intrusive popups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Motivation</a:t>
            </a:r>
            <a:endParaRPr lang="en-US" sz="3400" dirty="0"/>
          </a:p>
        </p:txBody>
      </p:sp>
      <p:sp>
        <p:nvSpPr>
          <p:cNvPr id="3" name="card_73"/>
          <p:cNvSpPr/>
          <p:nvPr/>
        </p:nvSpPr>
        <p:spPr>
          <a:xfrm>
            <a:off x="548640" y="1417320"/>
            <a:ext cx="67665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4" name="iconbg_74"/>
          <p:cNvSpPr/>
          <p:nvPr/>
        </p:nvSpPr>
        <p:spPr>
          <a:xfrm>
            <a:off x="77724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_75" descr="Fa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1973275"/>
            <a:ext cx="351130" cy="351130"/>
          </a:xfrm>
          <a:prstGeom prst="rect">
            <a:avLst/>
          </a:prstGeom>
        </p:spPr>
      </p:pic>
      <p:sp>
        <p:nvSpPr>
          <p:cNvPr id="6" name="text_76"/>
          <p:cNvSpPr txBox="1"/>
          <p:nvPr/>
        </p:nvSpPr>
        <p:spPr>
          <a:xfrm>
            <a:off x="178308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Research meets production</a:t>
            </a:r>
            <a:endParaRPr lang="en-US" sz="1800" dirty="0"/>
          </a:p>
        </p:txBody>
      </p:sp>
      <p:sp>
        <p:nvSpPr>
          <p:cNvPr id="7" name="text_77"/>
          <p:cNvSpPr txBox="1"/>
          <p:nvPr/>
        </p:nvSpPr>
        <p:spPr>
          <a:xfrm>
            <a:off x="1783080" y="20116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Bridges academic data science and an enterprise-ready, interactive web application.</a:t>
            </a:r>
            <a:endParaRPr lang="en-US" sz="1400" dirty="0"/>
          </a:p>
        </p:txBody>
      </p:sp>
      <p:sp>
        <p:nvSpPr>
          <p:cNvPr id="8" name="card_78"/>
          <p:cNvSpPr/>
          <p:nvPr/>
        </p:nvSpPr>
        <p:spPr>
          <a:xfrm>
            <a:off x="548640" y="3063240"/>
            <a:ext cx="67665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9" name="iconbg_79"/>
          <p:cNvSpPr/>
          <p:nvPr/>
        </p:nvSpPr>
        <p:spPr>
          <a:xfrm>
            <a:off x="777240" y="34290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_80" descr="FaCub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35" y="3619195"/>
            <a:ext cx="351130" cy="351130"/>
          </a:xfrm>
          <a:prstGeom prst="rect">
            <a:avLst/>
          </a:prstGeom>
        </p:spPr>
      </p:pic>
      <p:sp>
        <p:nvSpPr>
          <p:cNvPr id="11" name="text_81"/>
          <p:cNvSpPr txBox="1"/>
          <p:nvPr/>
        </p:nvSpPr>
        <p:spPr>
          <a:xfrm>
            <a:off x="1783080" y="3246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One system, two problems</a:t>
            </a:r>
            <a:endParaRPr lang="en-US" sz="1800" dirty="0"/>
          </a:p>
        </p:txBody>
      </p:sp>
      <p:sp>
        <p:nvSpPr>
          <p:cNvPr id="12" name="text_82"/>
          <p:cNvSpPr txBox="1"/>
          <p:nvPr/>
        </p:nvSpPr>
        <p:spPr>
          <a:xfrm>
            <a:off x="1783080" y="36576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Micro-level visitor intent and macro-level demand forecasting in a unified platform.</a:t>
            </a:r>
            <a:endParaRPr lang="en-US" sz="1400" dirty="0"/>
          </a:p>
        </p:txBody>
      </p:sp>
      <p:sp>
        <p:nvSpPr>
          <p:cNvPr id="13" name="card_83"/>
          <p:cNvSpPr/>
          <p:nvPr/>
        </p:nvSpPr>
        <p:spPr>
          <a:xfrm>
            <a:off x="548640" y="4709160"/>
            <a:ext cx="67665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14" name="iconbg_84"/>
          <p:cNvSpPr/>
          <p:nvPr/>
        </p:nvSpPr>
        <p:spPr>
          <a:xfrm>
            <a:off x="777240" y="50749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_85" descr="FaShieldA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" y="5265115"/>
            <a:ext cx="351130" cy="351130"/>
          </a:xfrm>
          <a:prstGeom prst="rect">
            <a:avLst/>
          </a:prstGeom>
        </p:spPr>
      </p:pic>
      <p:sp>
        <p:nvSpPr>
          <p:cNvPr id="16" name="text_86"/>
          <p:cNvSpPr txBox="1"/>
          <p:nvPr/>
        </p:nvSpPr>
        <p:spPr>
          <a:xfrm>
            <a:off x="1783080" y="4892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Leakage-audited ML</a:t>
            </a:r>
            <a:endParaRPr lang="en-US" sz="1800" dirty="0"/>
          </a:p>
        </p:txBody>
      </p:sp>
      <p:sp>
        <p:nvSpPr>
          <p:cNvPr id="17" name="text_87"/>
          <p:cNvSpPr txBox="1"/>
          <p:nvPr/>
        </p:nvSpPr>
        <p:spPr>
          <a:xfrm>
            <a:off x="1783080" y="53035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Tests LightGBM and XGBoost against logistic regression on imbalanced clickstream data, including a cold-start variant.</a:t>
            </a:r>
            <a:endParaRPr lang="en-US" sz="1400" dirty="0"/>
          </a:p>
        </p:txBody>
      </p:sp>
      <p:sp>
        <p:nvSpPr>
          <p:cNvPr id="18" name="card_88"/>
          <p:cNvSpPr/>
          <p:nvPr/>
        </p:nvSpPr>
        <p:spPr>
          <a:xfrm>
            <a:off x="7680960" y="1417320"/>
            <a:ext cx="3931920" cy="4572000"/>
          </a:xfrm>
          <a:prstGeom prst="roundRect">
            <a:avLst>
              <a:gd name="adj" fmla="val 2791"/>
            </a:avLst>
          </a:prstGeom>
          <a:solidFill>
            <a:schemeClr val="tx2"/>
          </a:solidFill>
          <a:ln/>
        </p:spPr>
      </p:sp>
      <p:sp>
        <p:nvSpPr>
          <p:cNvPr id="19" name="text_89"/>
          <p:cNvSpPr txBox="1"/>
          <p:nvPr/>
        </p:nvSpPr>
        <p:spPr>
          <a:xfrm>
            <a:off x="7863840" y="16459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accent3"/>
                </a:solidFill>
              </a:rPr>
              <a:t>70%+</a:t>
            </a:r>
            <a:endParaRPr lang="en-US" sz="8000" dirty="0"/>
          </a:p>
        </p:txBody>
      </p:sp>
      <p:sp>
        <p:nvSpPr>
          <p:cNvPr id="20" name="text_90"/>
          <p:cNvSpPr txBox="1"/>
          <p:nvPr/>
        </p:nvSpPr>
        <p:spPr>
          <a:xfrm>
            <a:off x="7863840" y="3063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of e-commerce carts are abandoned</a:t>
            </a:r>
            <a:endParaRPr lang="en-US" sz="1800" dirty="0"/>
          </a:p>
        </p:txBody>
      </p:sp>
      <p:sp>
        <p:nvSpPr>
          <p:cNvPr id="21" name="text_91"/>
          <p:cNvSpPr txBox="1"/>
          <p:nvPr/>
        </p:nvSpPr>
        <p:spPr>
          <a:xfrm>
            <a:off x="7955280" y="393192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Dynamic nudges (free shipping, personalized discounts) sent only to high-intent or hesitating users protect margin and lift revenue.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Objectives</a:t>
            </a:r>
            <a:endParaRPr lang="en-US" sz="3400" dirty="0"/>
          </a:p>
        </p:txBody>
      </p:sp>
      <p:sp>
        <p:nvSpPr>
          <p:cNvPr id="3" name="card_92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4" name="iconbg_93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_94" descr="FaBulls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1768450"/>
            <a:ext cx="395021" cy="395021"/>
          </a:xfrm>
          <a:prstGeom prst="rect">
            <a:avLst/>
          </a:prstGeom>
        </p:spPr>
      </p:pic>
      <p:sp>
        <p:nvSpPr>
          <p:cNvPr id="6" name="text_95"/>
          <p:cNvSpPr txBox="1"/>
          <p:nvPr/>
        </p:nvSpPr>
        <p:spPr>
          <a:xfrm>
            <a:off x="1828800" y="146304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Main objective: </a:t>
            </a:r>
            <a:r>
              <a:rPr lang="en-US" sz="1600" dirty="0">
                <a:solidFill>
                  <a:schemeClr val="bg1"/>
                </a:solidFill>
              </a:rPr>
              <a:t>build and deploy an end-to-end platform that predicts real-time purchase intent and automates multi-horizon sales forecasting through an interactive web interface.</a:t>
            </a:r>
            <a:endParaRPr lang="en-US" sz="1600" dirty="0"/>
          </a:p>
        </p:txBody>
      </p:sp>
      <p:sp>
        <p:nvSpPr>
          <p:cNvPr id="7" name="card_96"/>
          <p:cNvSpPr/>
          <p:nvPr/>
        </p:nvSpPr>
        <p:spPr>
          <a:xfrm>
            <a:off x="548640" y="2834640"/>
            <a:ext cx="2103120" cy="342900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8" name="num_97"/>
          <p:cNvSpPr txBox="1"/>
          <p:nvPr/>
        </p:nvSpPr>
        <p:spPr>
          <a:xfrm>
            <a:off x="731520" y="3017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9" name="text_98"/>
          <p:cNvSpPr txBox="1"/>
          <p:nvPr/>
        </p:nvSpPr>
        <p:spPr>
          <a:xfrm>
            <a:off x="73152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 Audit &amp; Preprocessing</a:t>
            </a:r>
            <a:endParaRPr lang="en-US" sz="1600" dirty="0"/>
          </a:p>
        </p:txBody>
      </p:sp>
      <p:sp>
        <p:nvSpPr>
          <p:cNvPr id="10" name="text_99"/>
          <p:cNvSpPr txBox="1"/>
          <p:nvPr/>
        </p:nvSpPr>
        <p:spPr>
          <a:xfrm>
            <a:off x="731520" y="452628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Clean and de-duplicate 12,330 UCI sessions; verify integrity.</a:t>
            </a:r>
            <a:endParaRPr lang="en-US" sz="1400" dirty="0"/>
          </a:p>
        </p:txBody>
      </p:sp>
      <p:sp>
        <p:nvSpPr>
          <p:cNvPr id="11" name="card_100"/>
          <p:cNvSpPr/>
          <p:nvPr/>
        </p:nvSpPr>
        <p:spPr>
          <a:xfrm>
            <a:off x="2788920" y="2834640"/>
            <a:ext cx="2103120" cy="342900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12" name="num_101"/>
          <p:cNvSpPr txBox="1"/>
          <p:nvPr/>
        </p:nvSpPr>
        <p:spPr>
          <a:xfrm>
            <a:off x="2971800" y="3017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_102"/>
          <p:cNvSpPr txBox="1"/>
          <p:nvPr/>
        </p:nvSpPr>
        <p:spPr>
          <a:xfrm>
            <a:off x="297180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Feature Engineering &amp; Leakage Audit</a:t>
            </a:r>
            <a:endParaRPr lang="en-US" sz="1600" dirty="0"/>
          </a:p>
        </p:txBody>
      </p:sp>
      <p:sp>
        <p:nvSpPr>
          <p:cNvPr id="14" name="text_103"/>
          <p:cNvSpPr txBox="1"/>
          <p:nvPr/>
        </p:nvSpPr>
        <p:spPr>
          <a:xfrm>
            <a:off x="2971800" y="452628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Build interaction ratios; run a cross-validated leakage audit.</a:t>
            </a:r>
            <a:endParaRPr lang="en-US" sz="1400" dirty="0"/>
          </a:p>
        </p:txBody>
      </p:sp>
      <p:sp>
        <p:nvSpPr>
          <p:cNvPr id="15" name="card_104"/>
          <p:cNvSpPr/>
          <p:nvPr/>
        </p:nvSpPr>
        <p:spPr>
          <a:xfrm>
            <a:off x="5029200" y="2834640"/>
            <a:ext cx="2103120" cy="342900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16" name="num_105"/>
          <p:cNvSpPr txBox="1"/>
          <p:nvPr/>
        </p:nvSpPr>
        <p:spPr>
          <a:xfrm>
            <a:off x="5212080" y="30175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text_106"/>
          <p:cNvSpPr txBox="1"/>
          <p:nvPr/>
        </p:nvSpPr>
        <p:spPr>
          <a:xfrm>
            <a:off x="521208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Model Benchmarking</a:t>
            </a:r>
            <a:endParaRPr lang="en-US" sz="1600" dirty="0"/>
          </a:p>
        </p:txBody>
      </p:sp>
      <p:sp>
        <p:nvSpPr>
          <p:cNvPr id="18" name="text_107"/>
          <p:cNvSpPr txBox="1"/>
          <p:nvPr/>
        </p:nvSpPr>
        <p:spPr>
          <a:xfrm>
            <a:off x="5212080" y="452628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Train 4 models with class weighting and threshold calibration.</a:t>
            </a:r>
            <a:endParaRPr lang="en-US" sz="1400" dirty="0"/>
          </a:p>
        </p:txBody>
      </p:sp>
      <p:sp>
        <p:nvSpPr>
          <p:cNvPr id="19" name="card_108"/>
          <p:cNvSpPr/>
          <p:nvPr/>
        </p:nvSpPr>
        <p:spPr>
          <a:xfrm>
            <a:off x="7269480" y="2834640"/>
            <a:ext cx="2103120" cy="342900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20" name="num_109"/>
          <p:cNvSpPr txBox="1"/>
          <p:nvPr/>
        </p:nvSpPr>
        <p:spPr>
          <a:xfrm>
            <a:off x="7452360" y="30175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endParaRPr lang="en-US" sz="1700" dirty="0"/>
          </a:p>
        </p:txBody>
      </p:sp>
      <p:sp>
        <p:nvSpPr>
          <p:cNvPr id="21" name="text_110"/>
          <p:cNvSpPr txBox="1"/>
          <p:nvPr/>
        </p:nvSpPr>
        <p:spPr>
          <a:xfrm>
            <a:off x="745236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Forecasting Engine</a:t>
            </a:r>
            <a:endParaRPr lang="en-US" sz="1600" dirty="0"/>
          </a:p>
        </p:txBody>
      </p:sp>
      <p:sp>
        <p:nvSpPr>
          <p:cNvPr id="22" name="text_111"/>
          <p:cNvSpPr txBox="1"/>
          <p:nvPr/>
        </p:nvSpPr>
        <p:spPr>
          <a:xfrm>
            <a:off x="7452360" y="452628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Lag features, rolling windows and tree regressors for multi-period demand.</a:t>
            </a:r>
            <a:endParaRPr lang="en-US" sz="1400" dirty="0"/>
          </a:p>
        </p:txBody>
      </p:sp>
      <p:sp>
        <p:nvSpPr>
          <p:cNvPr id="23" name="card_112"/>
          <p:cNvSpPr/>
          <p:nvPr/>
        </p:nvSpPr>
        <p:spPr>
          <a:xfrm>
            <a:off x="9509760" y="2834640"/>
            <a:ext cx="2103120" cy="342900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24" name="num_113"/>
          <p:cNvSpPr txBox="1"/>
          <p:nvPr/>
        </p:nvSpPr>
        <p:spPr>
          <a:xfrm>
            <a:off x="9692640" y="30175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5</a:t>
            </a:r>
            <a:endParaRPr lang="en-US" sz="1700" dirty="0"/>
          </a:p>
        </p:txBody>
      </p:sp>
      <p:sp>
        <p:nvSpPr>
          <p:cNvPr id="25" name="text_114"/>
          <p:cNvSpPr txBox="1"/>
          <p:nvPr/>
        </p:nvSpPr>
        <p:spPr>
          <a:xfrm>
            <a:off x="969264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Full-Stack Deployment</a:t>
            </a:r>
            <a:endParaRPr lang="en-US" sz="1600" dirty="0"/>
          </a:p>
        </p:txBody>
      </p:sp>
      <p:sp>
        <p:nvSpPr>
          <p:cNvPr id="26" name="text_115"/>
          <p:cNvSpPr txBox="1"/>
          <p:nvPr/>
        </p:nvSpPr>
        <p:spPr>
          <a:xfrm>
            <a:off x="9692640" y="452628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FastAPI REST APIs and a React dashboard with live charts.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Existing System</a:t>
            </a:r>
            <a:endParaRPr lang="en-US" sz="3400" dirty="0"/>
          </a:p>
        </p:txBody>
      </p:sp>
      <p:sp>
        <p:nvSpPr>
          <p:cNvPr id="3" name="box_116"/>
          <p:cNvSpPr txBox="1"/>
          <p:nvPr/>
        </p:nvSpPr>
        <p:spPr>
          <a:xfrm>
            <a:off x="548640" y="1463040"/>
            <a:ext cx="22860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Visitor browses</a:t>
            </a:r>
            <a:endParaRPr lang="en-US" sz="1500" dirty="0"/>
          </a:p>
        </p:txBody>
      </p:sp>
      <p:sp>
        <p:nvSpPr>
          <p:cNvPr id="4" name="arrow_117"/>
          <p:cNvSpPr/>
          <p:nvPr/>
        </p:nvSpPr>
        <p:spPr>
          <a:xfrm>
            <a:off x="2880360" y="1874520"/>
            <a:ext cx="54864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5" name="box_118"/>
          <p:cNvSpPr txBox="1"/>
          <p:nvPr/>
        </p:nvSpPr>
        <p:spPr>
          <a:xfrm>
            <a:off x="3474720" y="1463040"/>
            <a:ext cx="22860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Session ends</a:t>
            </a:r>
            <a:endParaRPr lang="en-US" sz="1500" dirty="0"/>
          </a:p>
        </p:txBody>
      </p:sp>
      <p:sp>
        <p:nvSpPr>
          <p:cNvPr id="6" name="arrow_119"/>
          <p:cNvSpPr/>
          <p:nvPr/>
        </p:nvSpPr>
        <p:spPr>
          <a:xfrm>
            <a:off x="5806440" y="1874520"/>
            <a:ext cx="54864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7" name="box_120"/>
          <p:cNvSpPr txBox="1"/>
          <p:nvPr/>
        </p:nvSpPr>
        <p:spPr>
          <a:xfrm>
            <a:off x="6400800" y="1463040"/>
            <a:ext cx="22860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Nightly batch aggregation</a:t>
            </a:r>
            <a:endParaRPr lang="en-US" sz="1500" dirty="0"/>
          </a:p>
        </p:txBody>
      </p:sp>
      <p:sp>
        <p:nvSpPr>
          <p:cNvPr id="8" name="arrow_121"/>
          <p:cNvSpPr/>
          <p:nvPr/>
        </p:nvSpPr>
        <p:spPr>
          <a:xfrm>
            <a:off x="8732520" y="1874520"/>
            <a:ext cx="54864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9" name="box_122"/>
          <p:cNvSpPr txBox="1"/>
          <p:nvPr/>
        </p:nvSpPr>
        <p:spPr>
          <a:xfrm>
            <a:off x="9326880" y="1463040"/>
            <a:ext cx="2286000" cy="822960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Static report / manual rules</a:t>
            </a:r>
            <a:endParaRPr lang="en-US" sz="1500" dirty="0"/>
          </a:p>
        </p:txBody>
      </p:sp>
      <p:sp>
        <p:nvSpPr>
          <p:cNvPr id="10" name="text_123"/>
          <p:cNvSpPr txBox="1"/>
          <p:nvPr/>
        </p:nvSpPr>
        <p:spPr>
          <a:xfrm>
            <a:off x="548640" y="2468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3"/>
                </a:solidFill>
              </a:rPr>
              <a:t>Insight arrives only AFTER the visitor has left</a:t>
            </a:r>
            <a:endParaRPr lang="en-US" sz="1600" dirty="0"/>
          </a:p>
        </p:txBody>
      </p:sp>
      <p:sp>
        <p:nvSpPr>
          <p:cNvPr id="11" name="card_124"/>
          <p:cNvSpPr/>
          <p:nvPr/>
        </p:nvSpPr>
        <p:spPr>
          <a:xfrm>
            <a:off x="548640" y="3063240"/>
            <a:ext cx="356616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/>
        </p:spPr>
      </p:sp>
      <p:sp>
        <p:nvSpPr>
          <p:cNvPr id="12" name="iconbg_125"/>
          <p:cNvSpPr/>
          <p:nvPr/>
        </p:nvSpPr>
        <p:spPr>
          <a:xfrm>
            <a:off x="777240" y="32461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icon_126" descr="FaFileA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388766"/>
            <a:ext cx="263347" cy="263347"/>
          </a:xfrm>
          <a:prstGeom prst="rect">
            <a:avLst/>
          </a:prstGeom>
        </p:spPr>
      </p:pic>
      <p:sp>
        <p:nvSpPr>
          <p:cNvPr id="14" name="text_127"/>
          <p:cNvSpPr txBox="1"/>
          <p:nvPr/>
        </p:nvSpPr>
        <p:spPr>
          <a:xfrm>
            <a:off x="150876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Current approach</a:t>
            </a:r>
            <a:endParaRPr lang="en-US" sz="1800" dirty="0"/>
          </a:p>
        </p:txBody>
      </p:sp>
      <p:sp>
        <p:nvSpPr>
          <p:cNvPr id="15" name="text_128"/>
          <p:cNvSpPr txBox="1"/>
          <p:nvPr/>
        </p:nvSpPr>
        <p:spPr>
          <a:xfrm>
            <a:off x="777240" y="397764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Heuristic rules, e.g. popup after 5 pages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Post-hoc nightly batch analytics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Manual spreadsheet moving averages</a:t>
            </a:r>
            <a:endParaRPr lang="en-US" sz="1400" dirty="0"/>
          </a:p>
        </p:txBody>
      </p:sp>
      <p:sp>
        <p:nvSpPr>
          <p:cNvPr id="16" name="card_129"/>
          <p:cNvSpPr/>
          <p:nvPr/>
        </p:nvSpPr>
        <p:spPr>
          <a:xfrm>
            <a:off x="4297680" y="3063240"/>
            <a:ext cx="356616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/>
        </p:spPr>
      </p:sp>
      <p:sp>
        <p:nvSpPr>
          <p:cNvPr id="17" name="iconbg_130"/>
          <p:cNvSpPr/>
          <p:nvPr/>
        </p:nvSpPr>
        <p:spPr>
          <a:xfrm>
            <a:off x="4526280" y="32461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con_131" descr="FaTool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926" y="3388766"/>
            <a:ext cx="263347" cy="263347"/>
          </a:xfrm>
          <a:prstGeom prst="rect">
            <a:avLst/>
          </a:prstGeom>
        </p:spPr>
      </p:pic>
      <p:sp>
        <p:nvSpPr>
          <p:cNvPr id="19" name="text_132"/>
          <p:cNvSpPr txBox="1"/>
          <p:nvPr/>
        </p:nvSpPr>
        <p:spPr>
          <a:xfrm>
            <a:off x="525780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Technologies</a:t>
            </a:r>
            <a:endParaRPr lang="en-US" sz="1800" dirty="0"/>
          </a:p>
        </p:txBody>
      </p:sp>
      <p:sp>
        <p:nvSpPr>
          <p:cNvPr id="20" name="text_133"/>
          <p:cNvSpPr txBox="1"/>
          <p:nvPr/>
        </p:nvSpPr>
        <p:spPr>
          <a:xfrm>
            <a:off x="4526280" y="397764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Google Analytics goal tracking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Basic CRM rule engines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ARIMA / Holt-Winters without exogenous features</a:t>
            </a:r>
            <a:endParaRPr lang="en-US" sz="1400" dirty="0"/>
          </a:p>
        </p:txBody>
      </p:sp>
      <p:sp>
        <p:nvSpPr>
          <p:cNvPr id="21" name="card_134"/>
          <p:cNvSpPr/>
          <p:nvPr/>
        </p:nvSpPr>
        <p:spPr>
          <a:xfrm>
            <a:off x="8046720" y="3063240"/>
            <a:ext cx="356616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/>
        </p:spPr>
      </p:sp>
      <p:sp>
        <p:nvSpPr>
          <p:cNvPr id="22" name="iconbg_135"/>
          <p:cNvSpPr/>
          <p:nvPr/>
        </p:nvSpPr>
        <p:spPr>
          <a:xfrm>
            <a:off x="8275320" y="32461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icon_136" descr="FaExclamationTriang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966" y="3388766"/>
            <a:ext cx="263347" cy="263347"/>
          </a:xfrm>
          <a:prstGeom prst="rect">
            <a:avLst/>
          </a:prstGeom>
        </p:spPr>
      </p:pic>
      <p:sp>
        <p:nvSpPr>
          <p:cNvPr id="24" name="text_137"/>
          <p:cNvSpPr txBox="1"/>
          <p:nvPr/>
        </p:nvSpPr>
        <p:spPr>
          <a:xfrm>
            <a:off x="900684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25" name="text_138"/>
          <p:cNvSpPr txBox="1"/>
          <p:nvPr/>
        </p:nvSpPr>
        <p:spPr>
          <a:xfrm>
            <a:off x="8275320" y="397764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No adaptation to in-session behavior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False positives erode margin via needless discounts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No real-time multi-source attributes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Proposed System: Dual-Engine Platform</a:t>
            </a:r>
            <a:endParaRPr lang="en-US" sz="3400" dirty="0"/>
          </a:p>
        </p:txBody>
      </p:sp>
      <p:sp>
        <p:nvSpPr>
          <p:cNvPr id="3" name="box_139"/>
          <p:cNvSpPr txBox="1"/>
          <p:nvPr/>
        </p:nvSpPr>
        <p:spPr>
          <a:xfrm>
            <a:off x="548640" y="1417320"/>
            <a:ext cx="2286000" cy="1508760"/>
          </a:xfrm>
          <a:prstGeom prst="roundRect">
            <a:avLst>
              <a:gd name="adj" fmla="val 6061"/>
            </a:avLst>
          </a:prstGeom>
          <a:solidFill>
            <a:schemeClr val="accent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Live visitor session</a:t>
            </a:r>
            <a:endParaRPr lang="en-US" sz="1600" dirty="0"/>
          </a:p>
        </p:txBody>
      </p:sp>
      <p:sp>
        <p:nvSpPr>
          <p:cNvPr id="4" name="arrow_140"/>
          <p:cNvSpPr/>
          <p:nvPr/>
        </p:nvSpPr>
        <p:spPr>
          <a:xfrm>
            <a:off x="2880360" y="2171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" name="card_141"/>
          <p:cNvSpPr/>
          <p:nvPr/>
        </p:nvSpPr>
        <p:spPr>
          <a:xfrm>
            <a:off x="3383280" y="1417320"/>
            <a:ext cx="4937760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6" name="iconbg_142"/>
          <p:cNvSpPr/>
          <p:nvPr/>
        </p:nvSpPr>
        <p:spPr>
          <a:xfrm>
            <a:off x="3611880" y="17830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_143" descr="FaShoppingC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962" y="1985162"/>
            <a:ext cx="373075" cy="373075"/>
          </a:xfrm>
          <a:prstGeom prst="rect">
            <a:avLst/>
          </a:prstGeom>
        </p:spPr>
      </p:pic>
      <p:sp>
        <p:nvSpPr>
          <p:cNvPr id="8" name="text_144"/>
          <p:cNvSpPr txBox="1"/>
          <p:nvPr/>
        </p:nvSpPr>
        <p:spPr>
          <a:xfrm>
            <a:off x="4617720" y="1645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Purchase Intention Engine</a:t>
            </a:r>
            <a:endParaRPr lang="en-US" sz="1800" dirty="0"/>
          </a:p>
        </p:txBody>
      </p:sp>
      <p:sp>
        <p:nvSpPr>
          <p:cNvPr id="9" name="text_145"/>
          <p:cNvSpPr txBox="1"/>
          <p:nvPr/>
        </p:nvSpPr>
        <p:spPr>
          <a:xfrm>
            <a:off x="4617720" y="2103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Calibrated classifier with Full and No_PageValues variants</a:t>
            </a:r>
            <a:endParaRPr lang="en-US" sz="1400" dirty="0"/>
          </a:p>
        </p:txBody>
      </p:sp>
      <p:sp>
        <p:nvSpPr>
          <p:cNvPr id="10" name="arrow_146"/>
          <p:cNvSpPr/>
          <p:nvPr/>
        </p:nvSpPr>
        <p:spPr>
          <a:xfrm>
            <a:off x="8366760" y="21717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box_147"/>
          <p:cNvSpPr txBox="1"/>
          <p:nvPr/>
        </p:nvSpPr>
        <p:spPr>
          <a:xfrm>
            <a:off x="8869680" y="1417320"/>
            <a:ext cx="2743200" cy="1508760"/>
          </a:xfrm>
          <a:prstGeom prst="roundRect">
            <a:avLst>
              <a:gd name="adj" fmla="val 6061"/>
            </a:avLst>
          </a:prstGeom>
          <a:solidFill>
            <a:schemeClr val="accent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Purchase probability + decision</a:t>
            </a:r>
            <a:endParaRPr lang="en-US" sz="1600" dirty="0"/>
          </a:p>
        </p:txBody>
      </p:sp>
      <p:sp>
        <p:nvSpPr>
          <p:cNvPr id="12" name="box_148"/>
          <p:cNvSpPr txBox="1"/>
          <p:nvPr/>
        </p:nvSpPr>
        <p:spPr>
          <a:xfrm>
            <a:off x="548640" y="3108960"/>
            <a:ext cx="2286000" cy="1508760"/>
          </a:xfrm>
          <a:prstGeom prst="roundRect">
            <a:avLst>
              <a:gd name="adj" fmla="val 6061"/>
            </a:avLst>
          </a:prstGeom>
          <a:solidFill>
            <a:schemeClr val="accent2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Store CSV / XLSX upload</a:t>
            </a:r>
            <a:endParaRPr lang="en-US" sz="1600" dirty="0"/>
          </a:p>
        </p:txBody>
      </p:sp>
      <p:sp>
        <p:nvSpPr>
          <p:cNvPr id="13" name="arrow_149"/>
          <p:cNvSpPr/>
          <p:nvPr/>
        </p:nvSpPr>
        <p:spPr>
          <a:xfrm>
            <a:off x="2880360" y="3863340"/>
            <a:ext cx="45720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card_150"/>
          <p:cNvSpPr/>
          <p:nvPr/>
        </p:nvSpPr>
        <p:spPr>
          <a:xfrm>
            <a:off x="3383280" y="3108960"/>
            <a:ext cx="4937760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15" name="iconbg_151"/>
          <p:cNvSpPr/>
          <p:nvPr/>
        </p:nvSpPr>
        <p:spPr>
          <a:xfrm>
            <a:off x="3611880" y="347472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con_152" descr="FaChartLi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962" y="3676802"/>
            <a:ext cx="373075" cy="373075"/>
          </a:xfrm>
          <a:prstGeom prst="rect">
            <a:avLst/>
          </a:prstGeom>
        </p:spPr>
      </p:pic>
      <p:sp>
        <p:nvSpPr>
          <p:cNvPr id="17" name="text_153"/>
          <p:cNvSpPr txBox="1"/>
          <p:nvPr/>
        </p:nvSpPr>
        <p:spPr>
          <a:xfrm>
            <a:off x="4617720" y="3337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Sales Forecasting Engine</a:t>
            </a:r>
            <a:endParaRPr lang="en-US" sz="1800" dirty="0"/>
          </a:p>
        </p:txBody>
      </p:sp>
      <p:sp>
        <p:nvSpPr>
          <p:cNvPr id="18" name="text_154"/>
          <p:cNvSpPr txBox="1"/>
          <p:nvPr/>
        </p:nvSpPr>
        <p:spPr>
          <a:xfrm>
            <a:off x="4617720" y="3794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Auto schema detection, lag &amp; rolling features, tree regressors</a:t>
            </a:r>
            <a:endParaRPr lang="en-US" sz="1400" dirty="0"/>
          </a:p>
        </p:txBody>
      </p:sp>
      <p:sp>
        <p:nvSpPr>
          <p:cNvPr id="19" name="arrow_155"/>
          <p:cNvSpPr/>
          <p:nvPr/>
        </p:nvSpPr>
        <p:spPr>
          <a:xfrm>
            <a:off x="8366760" y="3863340"/>
            <a:ext cx="45720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box_156"/>
          <p:cNvSpPr txBox="1"/>
          <p:nvPr/>
        </p:nvSpPr>
        <p:spPr>
          <a:xfrm>
            <a:off x="8869680" y="3108960"/>
            <a:ext cx="2743200" cy="1508760"/>
          </a:xfrm>
          <a:prstGeom prst="roundRect">
            <a:avLst>
              <a:gd name="adj" fmla="val 6061"/>
            </a:avLst>
          </a:prstGeom>
          <a:solidFill>
            <a:schemeClr val="accent2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Multi-horizon forecast chart</a:t>
            </a:r>
            <a:endParaRPr lang="en-US" sz="1600" dirty="0"/>
          </a:p>
        </p:txBody>
      </p:sp>
      <p:sp>
        <p:nvSpPr>
          <p:cNvPr id="21" name="card_157"/>
          <p:cNvSpPr/>
          <p:nvPr/>
        </p:nvSpPr>
        <p:spPr>
          <a:xfrm>
            <a:off x="548640" y="4983480"/>
            <a:ext cx="265176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2" name="iconbg_158"/>
          <p:cNvSpPr/>
          <p:nvPr/>
        </p:nvSpPr>
        <p:spPr>
          <a:xfrm>
            <a:off x="731520" y="53035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icon_159" descr="FaBalanceSca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54" y="5458054"/>
            <a:ext cx="285293" cy="285293"/>
          </a:xfrm>
          <a:prstGeom prst="rect">
            <a:avLst/>
          </a:prstGeom>
        </p:spPr>
      </p:pic>
      <p:sp>
        <p:nvSpPr>
          <p:cNvPr id="24" name="text_160"/>
          <p:cNvSpPr txBox="1"/>
          <p:nvPr/>
        </p:nvSpPr>
        <p:spPr>
          <a:xfrm>
            <a:off x="1463040" y="507492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Positive weighting (≈ 5.4) fixes class imbalance</a:t>
            </a:r>
            <a:endParaRPr lang="en-US" sz="1400" dirty="0"/>
          </a:p>
        </p:txBody>
      </p:sp>
      <p:sp>
        <p:nvSpPr>
          <p:cNvPr id="25" name="card_161"/>
          <p:cNvSpPr/>
          <p:nvPr/>
        </p:nvSpPr>
        <p:spPr>
          <a:xfrm>
            <a:off x="3355848" y="4983480"/>
            <a:ext cx="265176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6" name="iconbg_162"/>
          <p:cNvSpPr/>
          <p:nvPr/>
        </p:nvSpPr>
        <p:spPr>
          <a:xfrm>
            <a:off x="3538728" y="530352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icon_163" descr="FaMagi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3262" y="5458054"/>
            <a:ext cx="285293" cy="285293"/>
          </a:xfrm>
          <a:prstGeom prst="rect">
            <a:avLst/>
          </a:prstGeom>
        </p:spPr>
      </p:pic>
      <p:sp>
        <p:nvSpPr>
          <p:cNvPr id="28" name="text_164"/>
          <p:cNvSpPr txBox="1"/>
          <p:nvPr/>
        </p:nvSpPr>
        <p:spPr>
          <a:xfrm>
            <a:off x="4270248" y="507492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No-PageValues mode for cold-start visitors</a:t>
            </a:r>
            <a:endParaRPr lang="en-US" sz="1400" dirty="0"/>
          </a:p>
        </p:txBody>
      </p:sp>
      <p:sp>
        <p:nvSpPr>
          <p:cNvPr id="29" name="card_165"/>
          <p:cNvSpPr/>
          <p:nvPr/>
        </p:nvSpPr>
        <p:spPr>
          <a:xfrm>
            <a:off x="6163056" y="4983480"/>
            <a:ext cx="265176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30" name="iconbg_166"/>
          <p:cNvSpPr/>
          <p:nvPr/>
        </p:nvSpPr>
        <p:spPr>
          <a:xfrm>
            <a:off x="6345936" y="530352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1" name="icon_167" descr="FaBol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0470" y="5458054"/>
            <a:ext cx="285293" cy="285293"/>
          </a:xfrm>
          <a:prstGeom prst="rect">
            <a:avLst/>
          </a:prstGeom>
        </p:spPr>
      </p:pic>
      <p:sp>
        <p:nvSpPr>
          <p:cNvPr id="32" name="text_168"/>
          <p:cNvSpPr txBox="1"/>
          <p:nvPr/>
        </p:nvSpPr>
        <p:spPr>
          <a:xfrm>
            <a:off x="7077456" y="507492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Sub-20 ms inference via FastAPI</a:t>
            </a:r>
            <a:endParaRPr lang="en-US" sz="1400" dirty="0"/>
          </a:p>
        </p:txBody>
      </p:sp>
      <p:sp>
        <p:nvSpPr>
          <p:cNvPr id="33" name="card_169"/>
          <p:cNvSpPr/>
          <p:nvPr/>
        </p:nvSpPr>
        <p:spPr>
          <a:xfrm>
            <a:off x="8970264" y="4983480"/>
            <a:ext cx="265176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34" name="iconbg_170"/>
          <p:cNvSpPr/>
          <p:nvPr/>
        </p:nvSpPr>
        <p:spPr>
          <a:xfrm>
            <a:off x="9153144" y="5303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con_171" descr="FaDesktop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7678" y="5458054"/>
            <a:ext cx="285293" cy="285293"/>
          </a:xfrm>
          <a:prstGeom prst="rect">
            <a:avLst/>
          </a:prstGeom>
        </p:spPr>
      </p:pic>
      <p:sp>
        <p:nvSpPr>
          <p:cNvPr id="36" name="text_172"/>
          <p:cNvSpPr txBox="1"/>
          <p:nvPr/>
        </p:nvSpPr>
        <p:spPr>
          <a:xfrm>
            <a:off x="9884664" y="507492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Self-service web UI, no code needed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3" name="box_173"/>
          <p:cNvSpPr txBox="1"/>
          <p:nvPr/>
        </p:nvSpPr>
        <p:spPr>
          <a:xfrm>
            <a:off x="548640" y="1371600"/>
            <a:ext cx="237744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Presentation Layer</a:t>
            </a:r>
            <a:endParaRPr lang="en-US" sz="1500" dirty="0"/>
          </a:p>
        </p:txBody>
      </p:sp>
      <p:sp>
        <p:nvSpPr>
          <p:cNvPr id="4" name="card_174"/>
          <p:cNvSpPr/>
          <p:nvPr/>
        </p:nvSpPr>
        <p:spPr>
          <a:xfrm>
            <a:off x="3017520" y="1371600"/>
            <a:ext cx="8595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5" name="box_175"/>
          <p:cNvSpPr txBox="1"/>
          <p:nvPr/>
        </p:nvSpPr>
        <p:spPr>
          <a:xfrm>
            <a:off x="3154680" y="1485900"/>
            <a:ext cx="197739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React 18 + Vite</a:t>
            </a:r>
            <a:endParaRPr lang="en-US" sz="1200" dirty="0"/>
          </a:p>
        </p:txBody>
      </p:sp>
      <p:sp>
        <p:nvSpPr>
          <p:cNvPr id="6" name="box_176"/>
          <p:cNvSpPr txBox="1"/>
          <p:nvPr/>
        </p:nvSpPr>
        <p:spPr>
          <a:xfrm>
            <a:off x="5269230" y="1485900"/>
            <a:ext cx="197739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Tailwind CSS</a:t>
            </a:r>
            <a:endParaRPr lang="en-US" sz="1200" dirty="0"/>
          </a:p>
        </p:txBody>
      </p:sp>
      <p:sp>
        <p:nvSpPr>
          <p:cNvPr id="7" name="box_177"/>
          <p:cNvSpPr txBox="1"/>
          <p:nvPr/>
        </p:nvSpPr>
        <p:spPr>
          <a:xfrm>
            <a:off x="7383780" y="1485900"/>
            <a:ext cx="197739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Recharts</a:t>
            </a:r>
            <a:endParaRPr lang="en-US" sz="1200" dirty="0"/>
          </a:p>
        </p:txBody>
      </p:sp>
      <p:sp>
        <p:nvSpPr>
          <p:cNvPr id="8" name="box_178"/>
          <p:cNvSpPr txBox="1"/>
          <p:nvPr/>
        </p:nvSpPr>
        <p:spPr>
          <a:xfrm>
            <a:off x="9498330" y="1485900"/>
            <a:ext cx="197739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Lucide Icons</a:t>
            </a:r>
            <a:endParaRPr lang="en-US" sz="1200" dirty="0"/>
          </a:p>
        </p:txBody>
      </p:sp>
      <p:sp>
        <p:nvSpPr>
          <p:cNvPr id="9" name="arrow_179"/>
          <p:cNvSpPr/>
          <p:nvPr/>
        </p:nvSpPr>
        <p:spPr>
          <a:xfrm>
            <a:off x="1737360" y="2148840"/>
            <a:ext cx="0" cy="182880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0" name="text_180"/>
          <p:cNvSpPr txBox="1"/>
          <p:nvPr/>
        </p:nvSpPr>
        <p:spPr>
          <a:xfrm>
            <a:off x="1874520" y="21671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HTTP / JSON REST</a:t>
            </a:r>
            <a:endParaRPr lang="en-US" sz="1000" dirty="0"/>
          </a:p>
        </p:txBody>
      </p:sp>
      <p:sp>
        <p:nvSpPr>
          <p:cNvPr id="11" name="box_181"/>
          <p:cNvSpPr txBox="1"/>
          <p:nvPr/>
        </p:nvSpPr>
        <p:spPr>
          <a:xfrm>
            <a:off x="548640" y="2331720"/>
            <a:ext cx="2377440" cy="777240"/>
          </a:xfrm>
          <a:prstGeom prst="roundRect">
            <a:avLst>
              <a:gd name="adj" fmla="val 11765"/>
            </a:avLst>
          </a:prstGeom>
          <a:solidFill>
            <a:schemeClr val="accent6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FastAPI Application Layer</a:t>
            </a:r>
            <a:endParaRPr lang="en-US" sz="1500" dirty="0"/>
          </a:p>
        </p:txBody>
      </p:sp>
      <p:sp>
        <p:nvSpPr>
          <p:cNvPr id="12" name="card_182"/>
          <p:cNvSpPr/>
          <p:nvPr/>
        </p:nvSpPr>
        <p:spPr>
          <a:xfrm>
            <a:off x="3017520" y="2331720"/>
            <a:ext cx="8595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13" name="box_183"/>
          <p:cNvSpPr txBox="1"/>
          <p:nvPr/>
        </p:nvSpPr>
        <p:spPr>
          <a:xfrm>
            <a:off x="3154680" y="2446020"/>
            <a:ext cx="268224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/api/purchase/predict</a:t>
            </a:r>
            <a:endParaRPr lang="en-US" sz="1200" dirty="0"/>
          </a:p>
        </p:txBody>
      </p:sp>
      <p:sp>
        <p:nvSpPr>
          <p:cNvPr id="14" name="box_184"/>
          <p:cNvSpPr txBox="1"/>
          <p:nvPr/>
        </p:nvSpPr>
        <p:spPr>
          <a:xfrm>
            <a:off x="5974080" y="2446020"/>
            <a:ext cx="268224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/api/datasets/upload</a:t>
            </a:r>
            <a:endParaRPr lang="en-US" sz="1200" dirty="0"/>
          </a:p>
        </p:txBody>
      </p:sp>
      <p:sp>
        <p:nvSpPr>
          <p:cNvPr id="15" name="box_185"/>
          <p:cNvSpPr txBox="1"/>
          <p:nvPr/>
        </p:nvSpPr>
        <p:spPr>
          <a:xfrm>
            <a:off x="8793480" y="2446020"/>
            <a:ext cx="268224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/api/forecast/run</a:t>
            </a:r>
            <a:endParaRPr lang="en-US" sz="1200" dirty="0"/>
          </a:p>
        </p:txBody>
      </p:sp>
      <p:sp>
        <p:nvSpPr>
          <p:cNvPr id="16" name="arrow_186"/>
          <p:cNvSpPr/>
          <p:nvPr/>
        </p:nvSpPr>
        <p:spPr>
          <a:xfrm>
            <a:off x="1737360" y="3108960"/>
            <a:ext cx="0" cy="182880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7" name="text_187"/>
          <p:cNvSpPr txBox="1"/>
          <p:nvPr/>
        </p:nvSpPr>
        <p:spPr>
          <a:xfrm>
            <a:off x="1874520" y="3127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validated requests</a:t>
            </a:r>
            <a:endParaRPr lang="en-US" sz="1000" dirty="0"/>
          </a:p>
        </p:txBody>
      </p:sp>
      <p:sp>
        <p:nvSpPr>
          <p:cNvPr id="18" name="box_188"/>
          <p:cNvSpPr txBox="1"/>
          <p:nvPr/>
        </p:nvSpPr>
        <p:spPr>
          <a:xfrm>
            <a:off x="548640" y="3291840"/>
            <a:ext cx="2377440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Feature &amp; Data Pipeline</a:t>
            </a:r>
            <a:endParaRPr lang="en-US" sz="1500" dirty="0"/>
          </a:p>
        </p:txBody>
      </p:sp>
      <p:sp>
        <p:nvSpPr>
          <p:cNvPr id="19" name="card_189"/>
          <p:cNvSpPr/>
          <p:nvPr/>
        </p:nvSpPr>
        <p:spPr>
          <a:xfrm>
            <a:off x="3017520" y="3291840"/>
            <a:ext cx="8595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20" name="box_190"/>
          <p:cNvSpPr txBox="1"/>
          <p:nvPr/>
        </p:nvSpPr>
        <p:spPr>
          <a:xfrm>
            <a:off x="3154680" y="3406140"/>
            <a:ext cx="268224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StandardScaler + OneHotEncoder</a:t>
            </a:r>
            <a:endParaRPr lang="en-US" sz="1200" dirty="0"/>
          </a:p>
        </p:txBody>
      </p:sp>
      <p:sp>
        <p:nvSpPr>
          <p:cNvPr id="21" name="box_191"/>
          <p:cNvSpPr txBox="1"/>
          <p:nvPr/>
        </p:nvSpPr>
        <p:spPr>
          <a:xfrm>
            <a:off x="5974080" y="3406140"/>
            <a:ext cx="268224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Domain features (pages, share)</a:t>
            </a:r>
            <a:endParaRPr lang="en-US" sz="1200" dirty="0"/>
          </a:p>
        </p:txBody>
      </p:sp>
      <p:sp>
        <p:nvSpPr>
          <p:cNvPr id="22" name="box_192"/>
          <p:cNvSpPr txBox="1"/>
          <p:nvPr/>
        </p:nvSpPr>
        <p:spPr>
          <a:xfrm>
            <a:off x="8793480" y="3406140"/>
            <a:ext cx="268224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Lags, rolling mean, calendar</a:t>
            </a:r>
            <a:endParaRPr lang="en-US" sz="1200" dirty="0"/>
          </a:p>
        </p:txBody>
      </p:sp>
      <p:sp>
        <p:nvSpPr>
          <p:cNvPr id="23" name="arrow_193"/>
          <p:cNvSpPr/>
          <p:nvPr/>
        </p:nvSpPr>
        <p:spPr>
          <a:xfrm>
            <a:off x="1737360" y="4069080"/>
            <a:ext cx="0" cy="182880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4" name="text_194"/>
          <p:cNvSpPr txBox="1"/>
          <p:nvPr/>
        </p:nvSpPr>
        <p:spPr>
          <a:xfrm>
            <a:off x="1874520" y="40873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engineered features</a:t>
            </a:r>
            <a:endParaRPr lang="en-US" sz="1000" dirty="0"/>
          </a:p>
        </p:txBody>
      </p:sp>
      <p:sp>
        <p:nvSpPr>
          <p:cNvPr id="25" name="box_195"/>
          <p:cNvSpPr txBox="1"/>
          <p:nvPr/>
        </p:nvSpPr>
        <p:spPr>
          <a:xfrm>
            <a:off x="548640" y="4251960"/>
            <a:ext cx="2377440" cy="777240"/>
          </a:xfrm>
          <a:prstGeom prst="roundRect">
            <a:avLst>
              <a:gd name="adj" fmla="val 11765"/>
            </a:avLst>
          </a:prstGeom>
          <a:solidFill>
            <a:schemeClr val="accent3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Model &amp; Inference Layer</a:t>
            </a:r>
            <a:endParaRPr lang="en-US" sz="1500" dirty="0"/>
          </a:p>
        </p:txBody>
      </p:sp>
      <p:sp>
        <p:nvSpPr>
          <p:cNvPr id="26" name="card_196"/>
          <p:cNvSpPr/>
          <p:nvPr/>
        </p:nvSpPr>
        <p:spPr>
          <a:xfrm>
            <a:off x="3017520" y="4251960"/>
            <a:ext cx="8595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27" name="box_197"/>
          <p:cNvSpPr txBox="1"/>
          <p:nvPr/>
        </p:nvSpPr>
        <p:spPr>
          <a:xfrm>
            <a:off x="3154680" y="4366260"/>
            <a:ext cx="409194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Classifiers: LightGBM · XGBoost · LogReg</a:t>
            </a:r>
            <a:endParaRPr lang="en-US" sz="1200" dirty="0"/>
          </a:p>
        </p:txBody>
      </p:sp>
      <p:sp>
        <p:nvSpPr>
          <p:cNvPr id="28" name="box_198"/>
          <p:cNvSpPr txBox="1"/>
          <p:nvPr/>
        </p:nvSpPr>
        <p:spPr>
          <a:xfrm>
            <a:off x="7383780" y="4366260"/>
            <a:ext cx="409194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Forecasters: XGBoost · LightGBM regressors</a:t>
            </a:r>
            <a:endParaRPr lang="en-US" sz="1200" dirty="0"/>
          </a:p>
        </p:txBody>
      </p:sp>
      <p:sp>
        <p:nvSpPr>
          <p:cNvPr id="29" name="arrow_199"/>
          <p:cNvSpPr/>
          <p:nvPr/>
        </p:nvSpPr>
        <p:spPr>
          <a:xfrm>
            <a:off x="1737360" y="5029200"/>
            <a:ext cx="0" cy="182880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0" name="text_200"/>
          <p:cNvSpPr txBox="1"/>
          <p:nvPr/>
        </p:nvSpPr>
        <p:spPr>
          <a:xfrm>
            <a:off x="1874520" y="50474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load / save artifacts</a:t>
            </a:r>
            <a:endParaRPr lang="en-US" sz="1000" dirty="0"/>
          </a:p>
        </p:txBody>
      </p:sp>
      <p:sp>
        <p:nvSpPr>
          <p:cNvPr id="31" name="box_201"/>
          <p:cNvSpPr txBox="1"/>
          <p:nvPr/>
        </p:nvSpPr>
        <p:spPr>
          <a:xfrm>
            <a:off x="548640" y="5212080"/>
            <a:ext cx="2377440" cy="777240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Persistence &amp; Storage</a:t>
            </a:r>
            <a:endParaRPr lang="en-US" sz="1500" dirty="0"/>
          </a:p>
        </p:txBody>
      </p:sp>
      <p:sp>
        <p:nvSpPr>
          <p:cNvPr id="32" name="card_202"/>
          <p:cNvSpPr/>
          <p:nvPr/>
        </p:nvSpPr>
        <p:spPr>
          <a:xfrm>
            <a:off x="3017520" y="5212080"/>
            <a:ext cx="8595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33" name="box_203"/>
          <p:cNvSpPr txBox="1"/>
          <p:nvPr/>
        </p:nvSpPr>
        <p:spPr>
          <a:xfrm>
            <a:off x="3154680" y="5326380"/>
            <a:ext cx="268224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Joblib registry: models/purchase/</a:t>
            </a:r>
            <a:endParaRPr lang="en-US" sz="1200" dirty="0"/>
          </a:p>
        </p:txBody>
      </p:sp>
      <p:sp>
        <p:nvSpPr>
          <p:cNvPr id="34" name="box_204"/>
          <p:cNvSpPr txBox="1"/>
          <p:nvPr/>
        </p:nvSpPr>
        <p:spPr>
          <a:xfrm>
            <a:off x="5974080" y="5326380"/>
            <a:ext cx="268224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data/processed · data/uploads</a:t>
            </a:r>
            <a:endParaRPr lang="en-US" sz="1200" dirty="0"/>
          </a:p>
        </p:txBody>
      </p:sp>
      <p:sp>
        <p:nvSpPr>
          <p:cNvPr id="35" name="box_205"/>
          <p:cNvSpPr txBox="1"/>
          <p:nvPr/>
        </p:nvSpPr>
        <p:spPr>
          <a:xfrm>
            <a:off x="8793480" y="5326380"/>
            <a:ext cx="268224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results/forecasts · results/metrics</a:t>
            </a:r>
            <a:endParaRPr lang="en-US" sz="1200" dirty="0"/>
          </a:p>
        </p:txBody>
      </p:sp>
      <p:sp>
        <p:nvSpPr>
          <p:cNvPr id="36" name="text_206"/>
          <p:cNvSpPr txBox="1"/>
          <p:nvPr/>
        </p:nvSpPr>
        <p:spPr>
          <a:xfrm>
            <a:off x="548640" y="612648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Input: visitor session or CSV/Excel upload   →   Output: purchase probability, binary decision, forecast charts, CSV metric exports</a:t>
            </a:r>
            <a:endParaRPr lang="en-US" sz="1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Methodology &amp; Workflow</a:t>
            </a:r>
            <a:endParaRPr lang="en-US" sz="3400" dirty="0"/>
          </a:p>
        </p:txBody>
      </p:sp>
      <p:sp>
        <p:nvSpPr>
          <p:cNvPr id="3" name="card_207"/>
          <p:cNvSpPr/>
          <p:nvPr/>
        </p:nvSpPr>
        <p:spPr>
          <a:xfrm>
            <a:off x="548640" y="1417320"/>
            <a:ext cx="338328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4" name="num_208"/>
          <p:cNvSpPr txBox="1"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5" name="text_209"/>
          <p:cNvSpPr txBox="1"/>
          <p:nvPr/>
        </p:nvSpPr>
        <p:spPr>
          <a:xfrm>
            <a:off x="146304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Data Audit &amp; Ingestion</a:t>
            </a:r>
            <a:endParaRPr lang="en-US" sz="1800" dirty="0"/>
          </a:p>
        </p:txBody>
      </p:sp>
      <p:sp>
        <p:nvSpPr>
          <p:cNvPr id="6" name="text_210"/>
          <p:cNvSpPr txBox="1"/>
          <p:nvPr/>
        </p:nvSpPr>
        <p:spPr>
          <a:xfrm>
            <a:off x="777240" y="228600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12,330 rows × 18 columns; 0 missing values; 125 exact duplicates found.</a:t>
            </a:r>
            <a:endParaRPr lang="en-US" sz="1400" dirty="0"/>
          </a:p>
        </p:txBody>
      </p:sp>
      <p:sp>
        <p:nvSpPr>
          <p:cNvPr id="7" name="card_211"/>
          <p:cNvSpPr/>
          <p:nvPr/>
        </p:nvSpPr>
        <p:spPr>
          <a:xfrm>
            <a:off x="4389120" y="1417320"/>
            <a:ext cx="338328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8" name="num_212"/>
          <p:cNvSpPr txBox="1"/>
          <p:nvPr/>
        </p:nvSpPr>
        <p:spPr>
          <a:xfrm>
            <a:off x="4572000" y="1600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9" name="text_213"/>
          <p:cNvSpPr txBox="1"/>
          <p:nvPr/>
        </p:nvSpPr>
        <p:spPr>
          <a:xfrm>
            <a:off x="530352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Cleaning &amp; EDA</a:t>
            </a:r>
            <a:endParaRPr lang="en-US" sz="1800" dirty="0"/>
          </a:p>
        </p:txBody>
      </p:sp>
      <p:sp>
        <p:nvSpPr>
          <p:cNvPr id="10" name="text_214"/>
          <p:cNvSpPr txBox="1"/>
          <p:nvPr/>
        </p:nvSpPr>
        <p:spPr>
          <a:xfrm>
            <a:off x="4617720" y="228600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12,205 clean records; Revenue → binary; heatmaps, boxplots, class charts.</a:t>
            </a:r>
            <a:endParaRPr lang="en-US" sz="1400" dirty="0"/>
          </a:p>
        </p:txBody>
      </p:sp>
      <p:sp>
        <p:nvSpPr>
          <p:cNvPr id="11" name="card_215"/>
          <p:cNvSpPr/>
          <p:nvPr/>
        </p:nvSpPr>
        <p:spPr>
          <a:xfrm>
            <a:off x="8229600" y="1417320"/>
            <a:ext cx="338328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12" name="num_216"/>
          <p:cNvSpPr txBox="1"/>
          <p:nvPr/>
        </p:nvSpPr>
        <p:spPr>
          <a:xfrm>
            <a:off x="841248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13" name="text_217"/>
          <p:cNvSpPr txBox="1"/>
          <p:nvPr/>
        </p:nvSpPr>
        <p:spPr>
          <a:xfrm>
            <a:off x="914400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Feature Engineering</a:t>
            </a:r>
            <a:endParaRPr lang="en-US" sz="1800" dirty="0"/>
          </a:p>
        </p:txBody>
      </p:sp>
      <p:sp>
        <p:nvSpPr>
          <p:cNvPr id="14" name="text_218"/>
          <p:cNvSpPr txBox="1"/>
          <p:nvPr/>
        </p:nvSpPr>
        <p:spPr>
          <a:xfrm>
            <a:off x="8458200" y="228600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total_pages, avg_time_per_page, product_page_share, is_peak_season, has_pagevalue.</a:t>
            </a:r>
            <a:endParaRPr lang="en-US" sz="1400" dirty="0"/>
          </a:p>
        </p:txBody>
      </p:sp>
      <p:sp>
        <p:nvSpPr>
          <p:cNvPr id="15" name="card_219"/>
          <p:cNvSpPr/>
          <p:nvPr/>
        </p:nvSpPr>
        <p:spPr>
          <a:xfrm>
            <a:off x="8229600" y="3931920"/>
            <a:ext cx="338328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16" name="num_220"/>
          <p:cNvSpPr txBox="1"/>
          <p:nvPr/>
        </p:nvSpPr>
        <p:spPr>
          <a:xfrm>
            <a:off x="8412480" y="41148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endParaRPr lang="en-US" sz="1700" dirty="0"/>
          </a:p>
        </p:txBody>
      </p:sp>
      <p:sp>
        <p:nvSpPr>
          <p:cNvPr id="17" name="text_221"/>
          <p:cNvSpPr txBox="1"/>
          <p:nvPr/>
        </p:nvSpPr>
        <p:spPr>
          <a:xfrm>
            <a:off x="914400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Leakage Audit</a:t>
            </a:r>
            <a:endParaRPr lang="en-US" sz="1800" dirty="0"/>
          </a:p>
        </p:txBody>
      </p:sp>
      <p:sp>
        <p:nvSpPr>
          <p:cNvPr id="18" name="text_222"/>
          <p:cNvSpPr txBox="1"/>
          <p:nvPr/>
        </p:nvSpPr>
        <p:spPr>
          <a:xfrm>
            <a:off x="8458200" y="480060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Univariate logistic regression, 5-fold CV; flag features with ROC-AUC &gt; 0.80.</a:t>
            </a:r>
            <a:endParaRPr lang="en-US" sz="1400" dirty="0"/>
          </a:p>
        </p:txBody>
      </p:sp>
      <p:sp>
        <p:nvSpPr>
          <p:cNvPr id="19" name="card_223"/>
          <p:cNvSpPr/>
          <p:nvPr/>
        </p:nvSpPr>
        <p:spPr>
          <a:xfrm>
            <a:off x="4389120" y="3931920"/>
            <a:ext cx="338328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20" name="num_224"/>
          <p:cNvSpPr txBox="1"/>
          <p:nvPr/>
        </p:nvSpPr>
        <p:spPr>
          <a:xfrm>
            <a:off x="4572000" y="41148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5</a:t>
            </a:r>
            <a:endParaRPr lang="en-US" sz="1700" dirty="0"/>
          </a:p>
        </p:txBody>
      </p:sp>
      <p:sp>
        <p:nvSpPr>
          <p:cNvPr id="21" name="text_225"/>
          <p:cNvSpPr txBox="1"/>
          <p:nvPr/>
        </p:nvSpPr>
        <p:spPr>
          <a:xfrm>
            <a:off x="530352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Training &amp; Calibration</a:t>
            </a:r>
            <a:endParaRPr lang="en-US" sz="1800" dirty="0"/>
          </a:p>
        </p:txBody>
      </p:sp>
      <p:sp>
        <p:nvSpPr>
          <p:cNvPr id="22" name="text_226"/>
          <p:cNvSpPr txBox="1"/>
          <p:nvPr/>
        </p:nvSpPr>
        <p:spPr>
          <a:xfrm>
            <a:off x="4617720" y="480060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Dummy, LogReg, XGBoost, LightGBM; stratified 80/20; PR-curve threshold.</a:t>
            </a:r>
            <a:endParaRPr lang="en-US" sz="1400" dirty="0"/>
          </a:p>
        </p:txBody>
      </p:sp>
      <p:sp>
        <p:nvSpPr>
          <p:cNvPr id="23" name="card_227"/>
          <p:cNvSpPr/>
          <p:nvPr/>
        </p:nvSpPr>
        <p:spPr>
          <a:xfrm>
            <a:off x="548640" y="3931920"/>
            <a:ext cx="338328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24" name="num_228"/>
          <p:cNvSpPr txBox="1"/>
          <p:nvPr/>
        </p:nvSpPr>
        <p:spPr>
          <a:xfrm>
            <a:off x="731520" y="41148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6</a:t>
            </a:r>
            <a:endParaRPr lang="en-US" sz="1700" dirty="0"/>
          </a:p>
        </p:txBody>
      </p:sp>
      <p:sp>
        <p:nvSpPr>
          <p:cNvPr id="25" name="text_229"/>
          <p:cNvSpPr txBox="1"/>
          <p:nvPr/>
        </p:nvSpPr>
        <p:spPr>
          <a:xfrm>
            <a:off x="146304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Full-Stack Integration</a:t>
            </a:r>
            <a:endParaRPr lang="en-US" sz="1800" dirty="0"/>
          </a:p>
        </p:txBody>
      </p:sp>
      <p:sp>
        <p:nvSpPr>
          <p:cNvPr id="26" name="text_230"/>
          <p:cNvSpPr txBox="1"/>
          <p:nvPr/>
        </p:nvSpPr>
        <p:spPr>
          <a:xfrm>
            <a:off x="777240" y="480060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Joblib pipelines → FastAPI endpoints → React dashboard.</a:t>
            </a:r>
            <a:endParaRPr lang="en-US" sz="1400" dirty="0"/>
          </a:p>
        </p:txBody>
      </p:sp>
      <p:sp>
        <p:nvSpPr>
          <p:cNvPr id="27" name="arrow_231"/>
          <p:cNvSpPr/>
          <p:nvPr/>
        </p:nvSpPr>
        <p:spPr>
          <a:xfrm>
            <a:off x="3977640" y="2537460"/>
            <a:ext cx="36576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8" name="arrow_232"/>
          <p:cNvSpPr/>
          <p:nvPr/>
        </p:nvSpPr>
        <p:spPr>
          <a:xfrm>
            <a:off x="7818120" y="2537460"/>
            <a:ext cx="36576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9" name="arrow_233"/>
          <p:cNvSpPr/>
          <p:nvPr/>
        </p:nvSpPr>
        <p:spPr>
          <a:xfrm>
            <a:off x="9921240" y="3657600"/>
            <a:ext cx="0" cy="256032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0" name="arrow_234"/>
          <p:cNvSpPr/>
          <p:nvPr/>
        </p:nvSpPr>
        <p:spPr>
          <a:xfrm flipH="1">
            <a:off x="7818120" y="5052060"/>
            <a:ext cx="36576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1" name="arrow_235"/>
          <p:cNvSpPr/>
          <p:nvPr/>
        </p:nvSpPr>
        <p:spPr>
          <a:xfrm flipH="1">
            <a:off x="3977640" y="5052060"/>
            <a:ext cx="36576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Technology Stack</a:t>
            </a:r>
            <a:endParaRPr lang="en-US" sz="3400" dirty="0"/>
          </a:p>
        </p:txBody>
      </p:sp>
      <p:sp>
        <p:nvSpPr>
          <p:cNvPr id="3" name="card_236"/>
          <p:cNvSpPr/>
          <p:nvPr/>
        </p:nvSpPr>
        <p:spPr>
          <a:xfrm>
            <a:off x="548640" y="1417320"/>
            <a:ext cx="2651760" cy="480060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4" name="iconbg_237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_238" descr="Fa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812341"/>
            <a:ext cx="307238" cy="307238"/>
          </a:xfrm>
          <a:prstGeom prst="rect">
            <a:avLst/>
          </a:prstGeom>
        </p:spPr>
      </p:pic>
      <p:sp>
        <p:nvSpPr>
          <p:cNvPr id="6" name="text_239"/>
          <p:cNvSpPr txBox="1"/>
          <p:nvPr/>
        </p:nvSpPr>
        <p:spPr>
          <a:xfrm>
            <a:off x="1508760" y="1645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Languages</a:t>
            </a:r>
            <a:endParaRPr lang="en-US" sz="1800" dirty="0"/>
          </a:p>
        </p:txBody>
      </p:sp>
      <p:sp>
        <p:nvSpPr>
          <p:cNvPr id="7" name="text_240"/>
          <p:cNvSpPr txBox="1"/>
          <p:nvPr/>
        </p:nvSpPr>
        <p:spPr>
          <a:xfrm>
            <a:off x="777240" y="2606040"/>
            <a:ext cx="2286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Python 3.10+  (ML + REST backend)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JavaScript ES6+ / JSX  (frontend SPA)</a:t>
            </a:r>
            <a:endParaRPr lang="en-US" sz="1400" dirty="0"/>
          </a:p>
        </p:txBody>
      </p:sp>
      <p:sp>
        <p:nvSpPr>
          <p:cNvPr id="8" name="card_241"/>
          <p:cNvSpPr/>
          <p:nvPr/>
        </p:nvSpPr>
        <p:spPr>
          <a:xfrm>
            <a:off x="3355848" y="1417320"/>
            <a:ext cx="2651760" cy="480060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9" name="iconbg_242"/>
          <p:cNvSpPr/>
          <p:nvPr/>
        </p:nvSpPr>
        <p:spPr>
          <a:xfrm>
            <a:off x="3538728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_243" descr="FaLayerGrou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5149" y="1812341"/>
            <a:ext cx="307238" cy="307238"/>
          </a:xfrm>
          <a:prstGeom prst="rect">
            <a:avLst/>
          </a:prstGeom>
        </p:spPr>
      </p:pic>
      <p:sp>
        <p:nvSpPr>
          <p:cNvPr id="11" name="text_244"/>
          <p:cNvSpPr txBox="1"/>
          <p:nvPr/>
        </p:nvSpPr>
        <p:spPr>
          <a:xfrm>
            <a:off x="4315968" y="1645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Frameworks</a:t>
            </a:r>
            <a:endParaRPr lang="en-US" sz="1800" dirty="0"/>
          </a:p>
        </p:txBody>
      </p:sp>
      <p:sp>
        <p:nvSpPr>
          <p:cNvPr id="12" name="text_245"/>
          <p:cNvSpPr txBox="1"/>
          <p:nvPr/>
        </p:nvSpPr>
        <p:spPr>
          <a:xfrm>
            <a:off x="3584448" y="2606040"/>
            <a:ext cx="2286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FastAPI: async, auto OpenAPI docs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React 18 + Vite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Tailwind CSS</a:t>
            </a:r>
            <a:endParaRPr lang="en-US" sz="1400" dirty="0"/>
          </a:p>
        </p:txBody>
      </p:sp>
      <p:sp>
        <p:nvSpPr>
          <p:cNvPr id="13" name="card_246"/>
          <p:cNvSpPr/>
          <p:nvPr/>
        </p:nvSpPr>
        <p:spPr>
          <a:xfrm>
            <a:off x="6163056" y="1417320"/>
            <a:ext cx="2651760" cy="480060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14" name="iconbg_247"/>
          <p:cNvSpPr/>
          <p:nvPr/>
        </p:nvSpPr>
        <p:spPr>
          <a:xfrm>
            <a:off x="6345936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_248" descr="FaCub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2357" y="1812341"/>
            <a:ext cx="307238" cy="307238"/>
          </a:xfrm>
          <a:prstGeom prst="rect">
            <a:avLst/>
          </a:prstGeom>
        </p:spPr>
      </p:pic>
      <p:sp>
        <p:nvSpPr>
          <p:cNvPr id="16" name="text_249"/>
          <p:cNvSpPr txBox="1"/>
          <p:nvPr/>
        </p:nvSpPr>
        <p:spPr>
          <a:xfrm>
            <a:off x="7123176" y="1645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Key Libraries</a:t>
            </a:r>
            <a:endParaRPr lang="en-US" sz="1800" dirty="0"/>
          </a:p>
        </p:txBody>
      </p:sp>
      <p:sp>
        <p:nvSpPr>
          <p:cNvPr id="17" name="text_250"/>
          <p:cNvSpPr txBox="1"/>
          <p:nvPr/>
        </p:nvSpPr>
        <p:spPr>
          <a:xfrm>
            <a:off x="6391656" y="2606040"/>
            <a:ext cx="2286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Scikit-Learn, LightGBM, XGBoost, SHAP, Joblib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Pandas, NumPy, OpenPyXL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Matplotlib, Seaborn, Recharts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Axios, Uvicorn, Python-Multipart</a:t>
            </a:r>
            <a:endParaRPr lang="en-US" sz="1400" dirty="0"/>
          </a:p>
        </p:txBody>
      </p:sp>
      <p:sp>
        <p:nvSpPr>
          <p:cNvPr id="18" name="card_251"/>
          <p:cNvSpPr/>
          <p:nvPr/>
        </p:nvSpPr>
        <p:spPr>
          <a:xfrm>
            <a:off x="8970264" y="1417320"/>
            <a:ext cx="2651760" cy="480060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19" name="iconbg_252"/>
          <p:cNvSpPr/>
          <p:nvPr/>
        </p:nvSpPr>
        <p:spPr>
          <a:xfrm>
            <a:off x="9153144" y="16459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con_253" descr="FaServ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9565" y="1812341"/>
            <a:ext cx="307238" cy="307238"/>
          </a:xfrm>
          <a:prstGeom prst="rect">
            <a:avLst/>
          </a:prstGeom>
        </p:spPr>
      </p:pic>
      <p:sp>
        <p:nvSpPr>
          <p:cNvPr id="21" name="text_254"/>
          <p:cNvSpPr txBox="1"/>
          <p:nvPr/>
        </p:nvSpPr>
        <p:spPr>
          <a:xfrm>
            <a:off x="9930384" y="1645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Environment</a:t>
            </a:r>
            <a:endParaRPr lang="en-US" sz="1800" dirty="0"/>
          </a:p>
        </p:txBody>
      </p:sp>
      <p:sp>
        <p:nvSpPr>
          <p:cNvPr id="22" name="text_255"/>
          <p:cNvSpPr txBox="1"/>
          <p:nvPr/>
        </p:nvSpPr>
        <p:spPr>
          <a:xfrm>
            <a:off x="9198864" y="2606040"/>
            <a:ext cx="2286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Windows / Linux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Microservice-ready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Under 500 MB RAM at runtime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System Modules &amp; Components</a:t>
            </a:r>
            <a:endParaRPr lang="en-US" sz="3400" dirty="0"/>
          </a:p>
        </p:txBody>
      </p:sp>
      <p:sp>
        <p:nvSpPr>
          <p:cNvPr id="3" name="card_256"/>
          <p:cNvSpPr/>
          <p:nvPr/>
        </p:nvSpPr>
        <p:spPr>
          <a:xfrm>
            <a:off x="548640" y="141732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4" name="iconbg_257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_258" descr="FaDesk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812341"/>
            <a:ext cx="307238" cy="307238"/>
          </a:xfrm>
          <a:prstGeom prst="rect">
            <a:avLst/>
          </a:prstGeom>
        </p:spPr>
      </p:pic>
      <p:sp>
        <p:nvSpPr>
          <p:cNvPr id="6" name="text_259"/>
          <p:cNvSpPr txBox="1"/>
          <p:nvPr/>
        </p:nvSpPr>
        <p:spPr>
          <a:xfrm>
            <a:off x="160020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User Interface</a:t>
            </a:r>
            <a:endParaRPr lang="en-US" sz="1800" dirty="0"/>
          </a:p>
        </p:txBody>
      </p:sp>
      <p:sp>
        <p:nvSpPr>
          <p:cNvPr id="7" name="text_260"/>
          <p:cNvSpPr txBox="1"/>
          <p:nvPr/>
        </p:nvSpPr>
        <p:spPr>
          <a:xfrm>
            <a:off x="777240" y="2423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Dashboard with health monitor, prediction form, file uploader and forecast console.</a:t>
            </a:r>
            <a:endParaRPr lang="en-US" sz="1400" dirty="0"/>
          </a:p>
        </p:txBody>
      </p:sp>
      <p:sp>
        <p:nvSpPr>
          <p:cNvPr id="8" name="card_261"/>
          <p:cNvSpPr/>
          <p:nvPr/>
        </p:nvSpPr>
        <p:spPr>
          <a:xfrm>
            <a:off x="4297680" y="141732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9" name="iconbg_262"/>
          <p:cNvSpPr/>
          <p:nvPr/>
        </p:nvSpPr>
        <p:spPr>
          <a:xfrm>
            <a:off x="4526280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_263" descr="FaDataba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701" y="1812341"/>
            <a:ext cx="307238" cy="307238"/>
          </a:xfrm>
          <a:prstGeom prst="rect">
            <a:avLst/>
          </a:prstGeom>
        </p:spPr>
      </p:pic>
      <p:sp>
        <p:nvSpPr>
          <p:cNvPr id="11" name="text_264"/>
          <p:cNvSpPr txBox="1"/>
          <p:nvPr/>
        </p:nvSpPr>
        <p:spPr>
          <a:xfrm>
            <a:off x="534924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Ingestion &amp; Audit</a:t>
            </a:r>
            <a:endParaRPr lang="en-US" sz="1800" dirty="0"/>
          </a:p>
        </p:txBody>
      </p:sp>
      <p:sp>
        <p:nvSpPr>
          <p:cNvPr id="12" name="text_265"/>
          <p:cNvSpPr txBox="1"/>
          <p:nvPr/>
        </p:nvSpPr>
        <p:spPr>
          <a:xfrm>
            <a:off x="4526280" y="2423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Validates rows and columns, flags anomalies, drops duplicates, writes JSON/Markdown reports.</a:t>
            </a:r>
            <a:endParaRPr lang="en-US" sz="1400" dirty="0"/>
          </a:p>
        </p:txBody>
      </p:sp>
      <p:sp>
        <p:nvSpPr>
          <p:cNvPr id="13" name="card_266"/>
          <p:cNvSpPr/>
          <p:nvPr/>
        </p:nvSpPr>
        <p:spPr>
          <a:xfrm>
            <a:off x="8046720" y="141732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14" name="iconbg_267"/>
          <p:cNvSpPr/>
          <p:nvPr/>
        </p:nvSpPr>
        <p:spPr>
          <a:xfrm>
            <a:off x="8275320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_268" descr="FaFilt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1741" y="1812341"/>
            <a:ext cx="307238" cy="307238"/>
          </a:xfrm>
          <a:prstGeom prst="rect">
            <a:avLst/>
          </a:prstGeom>
        </p:spPr>
      </p:pic>
      <p:sp>
        <p:nvSpPr>
          <p:cNvPr id="16" name="text_269"/>
          <p:cNvSpPr txBox="1"/>
          <p:nvPr/>
        </p:nvSpPr>
        <p:spPr>
          <a:xfrm>
            <a:off x="909828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Feature Pipeline</a:t>
            </a:r>
            <a:endParaRPr lang="en-US" sz="1800" dirty="0"/>
          </a:p>
        </p:txBody>
      </p:sp>
      <p:sp>
        <p:nvSpPr>
          <p:cNvPr id="17" name="text_270"/>
          <p:cNvSpPr txBox="1"/>
          <p:nvPr/>
        </p:nvSpPr>
        <p:spPr>
          <a:xfrm>
            <a:off x="8275320" y="2423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ColumnTransformer: StandardScaler for numerics, OneHotEncoder for categoricals.</a:t>
            </a:r>
            <a:endParaRPr lang="en-US" sz="1400" dirty="0"/>
          </a:p>
        </p:txBody>
      </p:sp>
      <p:sp>
        <p:nvSpPr>
          <p:cNvPr id="18" name="card_271"/>
          <p:cNvSpPr/>
          <p:nvPr/>
        </p:nvSpPr>
        <p:spPr>
          <a:xfrm>
            <a:off x="548640" y="393192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19" name="iconbg_272"/>
          <p:cNvSpPr/>
          <p:nvPr/>
        </p:nvSpPr>
        <p:spPr>
          <a:xfrm>
            <a:off x="777240" y="4160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con_273" descr="FaBrai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1" y="4326941"/>
            <a:ext cx="307238" cy="307238"/>
          </a:xfrm>
          <a:prstGeom prst="rect">
            <a:avLst/>
          </a:prstGeom>
        </p:spPr>
      </p:pic>
      <p:sp>
        <p:nvSpPr>
          <p:cNvPr id="21" name="text_274"/>
          <p:cNvSpPr txBox="1"/>
          <p:nvPr/>
        </p:nvSpPr>
        <p:spPr>
          <a:xfrm>
            <a:off x="1600200" y="4160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Classification Engine</a:t>
            </a:r>
            <a:endParaRPr lang="en-US" sz="1800" dirty="0"/>
          </a:p>
        </p:txBody>
      </p:sp>
      <p:sp>
        <p:nvSpPr>
          <p:cNvPr id="22" name="text_275"/>
          <p:cNvSpPr txBox="1"/>
          <p:nvPr/>
        </p:nvSpPr>
        <p:spPr>
          <a:xfrm>
            <a:off x="777240" y="49377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LightGBM and XGBoost with custom positive weights for class balance.</a:t>
            </a:r>
            <a:endParaRPr lang="en-US" sz="1400" dirty="0"/>
          </a:p>
        </p:txBody>
      </p:sp>
      <p:sp>
        <p:nvSpPr>
          <p:cNvPr id="23" name="card_276"/>
          <p:cNvSpPr/>
          <p:nvPr/>
        </p:nvSpPr>
        <p:spPr>
          <a:xfrm>
            <a:off x="4297680" y="393192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24" name="iconbg_277"/>
          <p:cNvSpPr/>
          <p:nvPr/>
        </p:nvSpPr>
        <p:spPr>
          <a:xfrm>
            <a:off x="4526280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icon_278" descr="FaChartLin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701" y="4326941"/>
            <a:ext cx="307238" cy="307238"/>
          </a:xfrm>
          <a:prstGeom prst="rect">
            <a:avLst/>
          </a:prstGeom>
        </p:spPr>
      </p:pic>
      <p:sp>
        <p:nvSpPr>
          <p:cNvPr id="26" name="text_279"/>
          <p:cNvSpPr txBox="1"/>
          <p:nvPr/>
        </p:nvSpPr>
        <p:spPr>
          <a:xfrm>
            <a:off x="5349240" y="4160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Forecasting Engine</a:t>
            </a:r>
            <a:endParaRPr lang="en-US" sz="1800" dirty="0"/>
          </a:p>
        </p:txBody>
      </p:sp>
      <p:sp>
        <p:nvSpPr>
          <p:cNvPr id="27" name="text_280"/>
          <p:cNvSpPr txBox="1"/>
          <p:nvPr/>
        </p:nvSpPr>
        <p:spPr>
          <a:xfrm>
            <a:off x="4526280" y="49377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Daily / weekly / monthly resampling, lag_7 and lag_14, rolling windows, horizon forecast.</a:t>
            </a:r>
            <a:endParaRPr lang="en-US" sz="1400" dirty="0"/>
          </a:p>
        </p:txBody>
      </p:sp>
      <p:sp>
        <p:nvSpPr>
          <p:cNvPr id="28" name="card_281"/>
          <p:cNvSpPr/>
          <p:nvPr/>
        </p:nvSpPr>
        <p:spPr>
          <a:xfrm>
            <a:off x="8046720" y="393192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29" name="iconbg_282"/>
          <p:cNvSpPr/>
          <p:nvPr/>
        </p:nvSpPr>
        <p:spPr>
          <a:xfrm>
            <a:off x="8275320" y="41605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0" name="icon_283" descr="FaBol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1741" y="4326941"/>
            <a:ext cx="307238" cy="307238"/>
          </a:xfrm>
          <a:prstGeom prst="rect">
            <a:avLst/>
          </a:prstGeom>
        </p:spPr>
      </p:pic>
      <p:sp>
        <p:nvSpPr>
          <p:cNvPr id="31" name="text_284"/>
          <p:cNvSpPr txBox="1"/>
          <p:nvPr/>
        </p:nvSpPr>
        <p:spPr>
          <a:xfrm>
            <a:off x="9098280" y="4160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Serving Service</a:t>
            </a:r>
            <a:endParaRPr lang="en-US" sz="1800" dirty="0"/>
          </a:p>
        </p:txBody>
      </p:sp>
      <p:sp>
        <p:nvSpPr>
          <p:cNvPr id="32" name="text_285"/>
          <p:cNvSpPr txBox="1"/>
          <p:nvPr/>
        </p:nvSpPr>
        <p:spPr>
          <a:xfrm>
            <a:off x="8275320" y="49377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Loads .joblib pipelines at server boot for sub-20 ms inference.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Implementation Details</a:t>
            </a:r>
            <a:endParaRPr lang="en-US" sz="3400" dirty="0"/>
          </a:p>
        </p:txBody>
      </p:sp>
      <p:sp>
        <p:nvSpPr>
          <p:cNvPr id="3" name="card_286"/>
          <p:cNvSpPr/>
          <p:nvPr/>
        </p:nvSpPr>
        <p:spPr>
          <a:xfrm>
            <a:off x="548640" y="1417320"/>
            <a:ext cx="3383280" cy="480060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/>
        </p:spPr>
      </p:sp>
      <p:sp>
        <p:nvSpPr>
          <p:cNvPr id="4" name="text_287"/>
          <p:cNvSpPr txBox="1"/>
          <p:nvPr/>
        </p:nvSpPr>
        <p:spPr>
          <a:xfrm>
            <a:off x="77724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Project structure</a:t>
            </a:r>
            <a:endParaRPr lang="en-US" sz="1800" dirty="0"/>
          </a:p>
        </p:txBody>
      </p:sp>
      <p:sp>
        <p:nvSpPr>
          <p:cNvPr id="5" name="text_288"/>
          <p:cNvSpPr txBox="1"/>
          <p:nvPr/>
        </p:nvSpPr>
        <p:spPr>
          <a:xfrm>
            <a:off x="777240" y="2057400"/>
            <a:ext cx="3017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api/      routers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ml/       train, infer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schemas/  contracts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services/ forecast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models/purchase/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*.joblib pipelines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processed · uploads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results/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forecasts · metrics</a:t>
            </a:r>
            <a:endParaRPr lang="en-US" sz="1300" dirty="0"/>
          </a:p>
        </p:txBody>
      </p:sp>
      <p:sp>
        <p:nvSpPr>
          <p:cNvPr id="6" name="text_289"/>
          <p:cNvSpPr txBox="1"/>
          <p:nvPr/>
        </p:nvSpPr>
        <p:spPr>
          <a:xfrm>
            <a:off x="420624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Dual-variant training</a:t>
            </a:r>
            <a:endParaRPr lang="en-US" sz="1800" dirty="0"/>
          </a:p>
        </p:txBody>
      </p:sp>
      <p:sp>
        <p:nvSpPr>
          <p:cNvPr id="7" name="card_290"/>
          <p:cNvSpPr/>
          <p:nvPr/>
        </p:nvSpPr>
        <p:spPr>
          <a:xfrm>
            <a:off x="4206240" y="1920240"/>
            <a:ext cx="320040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8" name="text_291"/>
          <p:cNvSpPr txBox="1"/>
          <p:nvPr/>
        </p:nvSpPr>
        <p:spPr>
          <a:xfrm>
            <a:off x="443484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Variant 1 · Full</a:t>
            </a:r>
            <a:endParaRPr lang="en-US" sz="1600" dirty="0"/>
          </a:p>
        </p:txBody>
      </p:sp>
      <p:sp>
        <p:nvSpPr>
          <p:cNvPr id="9" name="text_292"/>
          <p:cNvSpPr txBox="1"/>
          <p:nvPr/>
        </p:nvSpPr>
        <p:spPr>
          <a:xfrm>
            <a:off x="4434840" y="2514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All clickstream features + PageValues</a:t>
            </a:r>
            <a:endParaRPr lang="en-US" sz="1400" dirty="0"/>
          </a:p>
        </p:txBody>
      </p:sp>
      <p:sp>
        <p:nvSpPr>
          <p:cNvPr id="10" name="box_293"/>
          <p:cNvSpPr txBox="1"/>
          <p:nvPr/>
        </p:nvSpPr>
        <p:spPr>
          <a:xfrm>
            <a:off x="4434840" y="3246120"/>
            <a:ext cx="201168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ROC-AUC 0.9344</a:t>
            </a:r>
            <a:endParaRPr lang="en-US" sz="1400" dirty="0"/>
          </a:p>
        </p:txBody>
      </p:sp>
      <p:sp>
        <p:nvSpPr>
          <p:cNvPr id="11" name="card_294"/>
          <p:cNvSpPr/>
          <p:nvPr/>
        </p:nvSpPr>
        <p:spPr>
          <a:xfrm>
            <a:off x="4206240" y="4114800"/>
            <a:ext cx="320040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12" name="text_295"/>
          <p:cNvSpPr txBox="1"/>
          <p:nvPr/>
        </p:nvSpPr>
        <p:spPr>
          <a:xfrm>
            <a:off x="443484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Variant 2 · No_PageValues</a:t>
            </a:r>
            <a:endParaRPr lang="en-US" sz="1600" dirty="0"/>
          </a:p>
        </p:txBody>
      </p:sp>
      <p:sp>
        <p:nvSpPr>
          <p:cNvPr id="13" name="text_296"/>
          <p:cNvSpPr txBox="1"/>
          <p:nvPr/>
        </p:nvSpPr>
        <p:spPr>
          <a:xfrm>
            <a:off x="4434840" y="4709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Strict early-session, cold-start prediction</a:t>
            </a:r>
            <a:endParaRPr lang="en-US" sz="1400" dirty="0"/>
          </a:p>
        </p:txBody>
      </p:sp>
      <p:sp>
        <p:nvSpPr>
          <p:cNvPr id="14" name="box_297"/>
          <p:cNvSpPr txBox="1"/>
          <p:nvPr/>
        </p:nvSpPr>
        <p:spPr>
          <a:xfrm>
            <a:off x="4434840" y="5440680"/>
            <a:ext cx="201168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ROC-AUC 0.7837</a:t>
            </a:r>
            <a:endParaRPr lang="en-US" sz="1400" dirty="0"/>
          </a:p>
        </p:txBody>
      </p:sp>
      <p:sp>
        <p:nvSpPr>
          <p:cNvPr id="15" name="text_298"/>
          <p:cNvSpPr txBox="1"/>
          <p:nvPr/>
        </p:nvSpPr>
        <p:spPr>
          <a:xfrm>
            <a:off x="768096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FastAPI inference handler (abridged)</a:t>
            </a:r>
            <a:endParaRPr lang="en-US" sz="1800" dirty="0"/>
          </a:p>
        </p:txBody>
      </p:sp>
      <p:sp>
        <p:nvSpPr>
          <p:cNvPr id="16" name="card_299"/>
          <p:cNvSpPr/>
          <p:nvPr/>
        </p:nvSpPr>
        <p:spPr>
          <a:xfrm>
            <a:off x="7680960" y="1920240"/>
            <a:ext cx="3931920" cy="315468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17" name="text_300"/>
          <p:cNvSpPr txBox="1"/>
          <p:nvPr/>
        </p:nvSpPr>
        <p:spPr>
          <a:xfrm>
            <a:off x="7818120" y="2057400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@router.post("/predict")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predict_purchase(req):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= models[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f"{req.model_type}_{req.variant}"]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engineer_purchase_features(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pd.DataFrame([req.model_dump()]))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 = model.predict_proba(df)[0][1]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{"prediction":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"Purchase" if prob &gt;= 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else "No Purchase", "prob": prob}</a:t>
            </a:r>
            <a:endParaRPr lang="en-US" sz="1200" dirty="0"/>
          </a:p>
        </p:txBody>
      </p:sp>
      <p:sp>
        <p:nvSpPr>
          <p:cNvPr id="18" name="card_301"/>
          <p:cNvSpPr/>
          <p:nvPr/>
        </p:nvSpPr>
        <p:spPr>
          <a:xfrm>
            <a:off x="7680960" y="5257800"/>
            <a:ext cx="393192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9" name="text_302"/>
          <p:cNvSpPr txBox="1"/>
          <p:nvPr/>
        </p:nvSpPr>
        <p:spPr>
          <a:xfrm>
            <a:off x="7863840" y="5303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Pydantic request / response contracts reject invalid numeric session inputs.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Dataset &amp; Input Data</a:t>
            </a:r>
            <a:endParaRPr lang="en-US" sz="3400" dirty="0"/>
          </a:p>
        </p:txBody>
      </p:sp>
      <p:sp>
        <p:nvSpPr>
          <p:cNvPr id="3" name="card_303"/>
          <p:cNvSpPr/>
          <p:nvPr/>
        </p:nvSpPr>
        <p:spPr>
          <a:xfrm>
            <a:off x="548640" y="137160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4" name="text_304"/>
          <p:cNvSpPr txBox="1"/>
          <p:nvPr/>
        </p:nvSpPr>
        <p:spPr>
          <a:xfrm>
            <a:off x="731520" y="14447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12,330</a:t>
            </a:r>
            <a:endParaRPr lang="en-US" sz="4000" dirty="0"/>
          </a:p>
        </p:txBody>
      </p:sp>
      <p:sp>
        <p:nvSpPr>
          <p:cNvPr id="5" name="text_305"/>
          <p:cNvSpPr txBox="1"/>
          <p:nvPr/>
        </p:nvSpPr>
        <p:spPr>
          <a:xfrm>
            <a:off x="73152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raw user sessions</a:t>
            </a:r>
            <a:endParaRPr lang="en-US" sz="1300" dirty="0"/>
          </a:p>
        </p:txBody>
      </p:sp>
      <p:sp>
        <p:nvSpPr>
          <p:cNvPr id="6" name="card_306"/>
          <p:cNvSpPr/>
          <p:nvPr/>
        </p:nvSpPr>
        <p:spPr>
          <a:xfrm>
            <a:off x="3355848" y="137160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7" name="text_307"/>
          <p:cNvSpPr txBox="1"/>
          <p:nvPr/>
        </p:nvSpPr>
        <p:spPr>
          <a:xfrm>
            <a:off x="3538728" y="14447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18</a:t>
            </a:r>
            <a:endParaRPr lang="en-US" sz="4000" dirty="0"/>
          </a:p>
        </p:txBody>
      </p:sp>
      <p:sp>
        <p:nvSpPr>
          <p:cNvPr id="8" name="text_308"/>
          <p:cNvSpPr txBox="1"/>
          <p:nvPr/>
        </p:nvSpPr>
        <p:spPr>
          <a:xfrm>
            <a:off x="3538728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attributes (10 numeric, 8 categorical)</a:t>
            </a:r>
            <a:endParaRPr lang="en-US" sz="1300" dirty="0"/>
          </a:p>
        </p:txBody>
      </p:sp>
      <p:sp>
        <p:nvSpPr>
          <p:cNvPr id="9" name="card_309"/>
          <p:cNvSpPr/>
          <p:nvPr/>
        </p:nvSpPr>
        <p:spPr>
          <a:xfrm>
            <a:off x="6163056" y="137160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0" name="text_310"/>
          <p:cNvSpPr txBox="1"/>
          <p:nvPr/>
        </p:nvSpPr>
        <p:spPr>
          <a:xfrm>
            <a:off x="6345936" y="14447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125</a:t>
            </a:r>
            <a:endParaRPr lang="en-US" sz="4000" dirty="0"/>
          </a:p>
        </p:txBody>
      </p:sp>
      <p:sp>
        <p:nvSpPr>
          <p:cNvPr id="11" name="text_311"/>
          <p:cNvSpPr txBox="1"/>
          <p:nvPr/>
        </p:nvSpPr>
        <p:spPr>
          <a:xfrm>
            <a:off x="6345936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exact duplicates dropped</a:t>
            </a:r>
            <a:endParaRPr lang="en-US" sz="1300" dirty="0"/>
          </a:p>
        </p:txBody>
      </p:sp>
      <p:sp>
        <p:nvSpPr>
          <p:cNvPr id="12" name="card_312"/>
          <p:cNvSpPr/>
          <p:nvPr/>
        </p:nvSpPr>
        <p:spPr>
          <a:xfrm>
            <a:off x="8970264" y="137160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3" name="text_313"/>
          <p:cNvSpPr txBox="1"/>
          <p:nvPr/>
        </p:nvSpPr>
        <p:spPr>
          <a:xfrm>
            <a:off x="9153144" y="14447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12,205</a:t>
            </a:r>
            <a:endParaRPr lang="en-US" sz="4000" dirty="0"/>
          </a:p>
        </p:txBody>
      </p:sp>
      <p:sp>
        <p:nvSpPr>
          <p:cNvPr id="14" name="text_314"/>
          <p:cNvSpPr txBox="1"/>
          <p:nvPr/>
        </p:nvSpPr>
        <p:spPr>
          <a:xfrm>
            <a:off x="9153144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clean records</a:t>
            </a:r>
            <a:endParaRPr lang="en-US" sz="1300" dirty="0"/>
          </a:p>
        </p:txBody>
      </p:sp>
      <p:sp>
        <p:nvSpPr>
          <p:cNvPr id="15" name="card_315"/>
          <p:cNvSpPr/>
          <p:nvPr/>
        </p:nvSpPr>
        <p:spPr>
          <a:xfrm>
            <a:off x="548640" y="3017520"/>
            <a:ext cx="393192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/>
        </p:spPr>
      </p:sp>
      <p:sp>
        <p:nvSpPr>
          <p:cNvPr id="16" name="text_316"/>
          <p:cNvSpPr txBox="1"/>
          <p:nvPr/>
        </p:nvSpPr>
        <p:spPr>
          <a:xfrm>
            <a:off x="77724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Target: Revenue</a:t>
            </a:r>
            <a:endParaRPr lang="en-US" sz="16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685800" y="3474720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card_317"/>
          <p:cNvSpPr/>
          <p:nvPr/>
        </p:nvSpPr>
        <p:spPr>
          <a:xfrm>
            <a:off x="4754880" y="3017520"/>
            <a:ext cx="685800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/>
        </p:spPr>
      </p:sp>
      <p:sp>
        <p:nvSpPr>
          <p:cNvPr id="19" name="iconbg_318"/>
          <p:cNvSpPr/>
          <p:nvPr/>
        </p:nvSpPr>
        <p:spPr>
          <a:xfrm>
            <a:off x="4983480" y="32278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_319" descr="FaMousePoint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126" y="3370478"/>
            <a:ext cx="263347" cy="263347"/>
          </a:xfrm>
          <a:prstGeom prst="rect">
            <a:avLst/>
          </a:prstGeom>
        </p:spPr>
      </p:pic>
      <p:sp>
        <p:nvSpPr>
          <p:cNvPr id="21" name="text_320"/>
          <p:cNvSpPr txBox="1"/>
          <p:nvPr/>
        </p:nvSpPr>
        <p:spPr>
          <a:xfrm>
            <a:off x="5760720" y="31546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Page counts &amp; durations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Administrative, Informational, ProductRelated</a:t>
            </a:r>
            <a:endParaRPr lang="en-US" sz="1400" dirty="0"/>
          </a:p>
        </p:txBody>
      </p:sp>
      <p:sp>
        <p:nvSpPr>
          <p:cNvPr id="22" name="iconbg_321"/>
          <p:cNvSpPr/>
          <p:nvPr/>
        </p:nvSpPr>
        <p:spPr>
          <a:xfrm>
            <a:off x="4983480" y="400507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con_322" descr="FaChartLi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6126" y="4147718"/>
            <a:ext cx="263347" cy="263347"/>
          </a:xfrm>
          <a:prstGeom prst="rect">
            <a:avLst/>
          </a:prstGeom>
        </p:spPr>
      </p:pic>
      <p:sp>
        <p:nvSpPr>
          <p:cNvPr id="24" name="text_323"/>
          <p:cNvSpPr txBox="1"/>
          <p:nvPr/>
        </p:nvSpPr>
        <p:spPr>
          <a:xfrm>
            <a:off x="5760720" y="39319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Google Analytics metrics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BounceRates, ExitRates, PageValues</a:t>
            </a:r>
            <a:endParaRPr lang="en-US" sz="1400" dirty="0"/>
          </a:p>
        </p:txBody>
      </p:sp>
      <p:sp>
        <p:nvSpPr>
          <p:cNvPr id="25" name="iconbg_324"/>
          <p:cNvSpPr/>
          <p:nvPr/>
        </p:nvSpPr>
        <p:spPr>
          <a:xfrm>
            <a:off x="4983480" y="4782312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con_325" descr="FaCalendarA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6126" y="4924958"/>
            <a:ext cx="263347" cy="263347"/>
          </a:xfrm>
          <a:prstGeom prst="rect">
            <a:avLst/>
          </a:prstGeom>
        </p:spPr>
      </p:pic>
      <p:sp>
        <p:nvSpPr>
          <p:cNvPr id="27" name="text_326"/>
          <p:cNvSpPr txBox="1"/>
          <p:nvPr/>
        </p:nvSpPr>
        <p:spPr>
          <a:xfrm>
            <a:off x="5760720" y="47091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Context &amp; time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Month, OS, Browser, Region, TrafficType, VisitorType, Weekend, SpecialDay</a:t>
            </a:r>
            <a:endParaRPr lang="en-US" sz="1400" dirty="0"/>
          </a:p>
        </p:txBody>
      </p:sp>
      <p:sp>
        <p:nvSpPr>
          <p:cNvPr id="28" name="iconbg_327"/>
          <p:cNvSpPr/>
          <p:nvPr/>
        </p:nvSpPr>
        <p:spPr>
          <a:xfrm>
            <a:off x="4983480" y="5559552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9" name="icon_328" descr="FaStor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6126" y="5702198"/>
            <a:ext cx="263347" cy="263347"/>
          </a:xfrm>
          <a:prstGeom prst="rect">
            <a:avLst/>
          </a:prstGeom>
        </p:spPr>
      </p:pic>
      <p:sp>
        <p:nvSpPr>
          <p:cNvPr id="30" name="text_329"/>
          <p:cNvSpPr txBox="1"/>
          <p:nvPr/>
        </p:nvSpPr>
        <p:spPr>
          <a:xfrm>
            <a:off x="5760720" y="54864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Secondary dataset (forecasting)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Multi-store daily revenue with timestamps and seasonal variation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Algorithm &amp; Model Selection</a:t>
            </a:r>
            <a:endParaRPr lang="en-US" sz="3400" dirty="0"/>
          </a:p>
        </p:txBody>
      </p:sp>
      <p:sp>
        <p:nvSpPr>
          <p:cNvPr id="3" name="card_330"/>
          <p:cNvSpPr/>
          <p:nvPr/>
        </p:nvSpPr>
        <p:spPr>
          <a:xfrm>
            <a:off x="548640" y="1417320"/>
            <a:ext cx="342900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4" name="box_331"/>
          <p:cNvSpPr txBox="1"/>
          <p:nvPr/>
        </p:nvSpPr>
        <p:spPr>
          <a:xfrm>
            <a:off x="777240" y="1645920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LightGBM</a:t>
            </a:r>
            <a:endParaRPr lang="en-US" sz="1400" dirty="0"/>
          </a:p>
        </p:txBody>
      </p:sp>
      <p:sp>
        <p:nvSpPr>
          <p:cNvPr id="5" name="text_332"/>
          <p:cNvSpPr txBox="1"/>
          <p:nvPr/>
        </p:nvSpPr>
        <p:spPr>
          <a:xfrm>
            <a:off x="777240" y="22860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Histogram-based boosting with leaf-wise growth; fast on categorical and skewed data.</a:t>
            </a:r>
            <a:endParaRPr lang="en-US" sz="1400" dirty="0"/>
          </a:p>
        </p:txBody>
      </p:sp>
      <p:sp>
        <p:nvSpPr>
          <p:cNvPr id="6" name="card_333"/>
          <p:cNvSpPr/>
          <p:nvPr/>
        </p:nvSpPr>
        <p:spPr>
          <a:xfrm>
            <a:off x="4160520" y="1417320"/>
            <a:ext cx="342900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7" name="box_334"/>
          <p:cNvSpPr txBox="1"/>
          <p:nvPr/>
        </p:nvSpPr>
        <p:spPr>
          <a:xfrm>
            <a:off x="4389120" y="1645920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XGBoost</a:t>
            </a:r>
            <a:endParaRPr lang="en-US" sz="1400" dirty="0"/>
          </a:p>
        </p:txBody>
      </p:sp>
      <p:sp>
        <p:nvSpPr>
          <p:cNvPr id="8" name="text_335"/>
          <p:cNvSpPr txBox="1"/>
          <p:nvPr/>
        </p:nvSpPr>
        <p:spPr>
          <a:xfrm>
            <a:off x="4389120" y="22860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Tabular-data standard; L1/L2 regularization resists noisy session durations.</a:t>
            </a:r>
            <a:endParaRPr lang="en-US" sz="1400" dirty="0"/>
          </a:p>
        </p:txBody>
      </p:sp>
      <p:sp>
        <p:nvSpPr>
          <p:cNvPr id="9" name="card_336"/>
          <p:cNvSpPr/>
          <p:nvPr/>
        </p:nvSpPr>
        <p:spPr>
          <a:xfrm>
            <a:off x="548640" y="3886200"/>
            <a:ext cx="342900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10" name="box_337"/>
          <p:cNvSpPr txBox="1"/>
          <p:nvPr/>
        </p:nvSpPr>
        <p:spPr>
          <a:xfrm>
            <a:off x="777240" y="4114800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11" name="text_338"/>
          <p:cNvSpPr txBox="1"/>
          <p:nvPr/>
        </p:nvSpPr>
        <p:spPr>
          <a:xfrm>
            <a:off x="777240" y="47548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Linear benchmark using class_weight='balanced' as a reference.</a:t>
            </a:r>
            <a:endParaRPr lang="en-US" sz="1400" dirty="0"/>
          </a:p>
        </p:txBody>
      </p:sp>
      <p:sp>
        <p:nvSpPr>
          <p:cNvPr id="12" name="card_339"/>
          <p:cNvSpPr/>
          <p:nvPr/>
        </p:nvSpPr>
        <p:spPr>
          <a:xfrm>
            <a:off x="4160520" y="3886200"/>
            <a:ext cx="342900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13" name="box_340"/>
          <p:cNvSpPr txBox="1"/>
          <p:nvPr/>
        </p:nvSpPr>
        <p:spPr>
          <a:xfrm>
            <a:off x="4389120" y="4114800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Dummy Classifier</a:t>
            </a:r>
            <a:endParaRPr lang="en-US" sz="1400" dirty="0"/>
          </a:p>
        </p:txBody>
      </p:sp>
      <p:sp>
        <p:nvSpPr>
          <p:cNvPr id="14" name="text_341"/>
          <p:cNvSpPr txBox="1"/>
          <p:nvPr/>
        </p:nvSpPr>
        <p:spPr>
          <a:xfrm>
            <a:off x="4389120" y="47548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Predicts the majority class to prove the models learn something real.</a:t>
            </a:r>
            <a:endParaRPr lang="en-US" sz="1400" dirty="0"/>
          </a:p>
        </p:txBody>
      </p:sp>
      <p:sp>
        <p:nvSpPr>
          <p:cNvPr id="15" name="card_342"/>
          <p:cNvSpPr/>
          <p:nvPr/>
        </p:nvSpPr>
        <p:spPr>
          <a:xfrm>
            <a:off x="7955280" y="1417320"/>
            <a:ext cx="3657600" cy="475488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/>
        </p:spPr>
      </p:sp>
      <p:sp>
        <p:nvSpPr>
          <p:cNvPr id="16" name="text_343"/>
          <p:cNvSpPr txBox="1"/>
          <p:nvPr/>
        </p:nvSpPr>
        <p:spPr>
          <a:xfrm>
            <a:off x="818388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Critical techniques</a:t>
            </a:r>
            <a:endParaRPr lang="en-US" sz="1800" dirty="0"/>
          </a:p>
        </p:txBody>
      </p:sp>
      <p:sp>
        <p:nvSpPr>
          <p:cNvPr id="17" name="text_344"/>
          <p:cNvSpPr txBox="1"/>
          <p:nvPr/>
        </p:nvSpPr>
        <p:spPr>
          <a:xfrm>
            <a:off x="818388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scale_pos_weight = N_neg / N_pos ≈ 5.4</a:t>
            </a:r>
            <a:endParaRPr lang="en-US" sz="1400" dirty="0"/>
          </a:p>
        </p:txBody>
      </p:sp>
      <p:sp>
        <p:nvSpPr>
          <p:cNvPr id="18" name="box_345"/>
          <p:cNvSpPr txBox="1"/>
          <p:nvPr/>
        </p:nvSpPr>
        <p:spPr>
          <a:xfrm>
            <a:off x="8183880" y="2697480"/>
            <a:ext cx="3200400" cy="36576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Negative 10,422</a:t>
            </a:r>
            <a:endParaRPr lang="en-US" sz="1200" dirty="0"/>
          </a:p>
        </p:txBody>
      </p:sp>
      <p:sp>
        <p:nvSpPr>
          <p:cNvPr id="19" name="box_346"/>
          <p:cNvSpPr txBox="1"/>
          <p:nvPr/>
        </p:nvSpPr>
        <p:spPr>
          <a:xfrm>
            <a:off x="8183880" y="3154680"/>
            <a:ext cx="585216" cy="3657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text_347"/>
          <p:cNvSpPr txBox="1"/>
          <p:nvPr/>
        </p:nvSpPr>
        <p:spPr>
          <a:xfrm>
            <a:off x="886968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Positive 1,908</a:t>
            </a:r>
            <a:endParaRPr lang="en-US" sz="1200" dirty="0"/>
          </a:p>
        </p:txBody>
      </p:sp>
      <p:sp>
        <p:nvSpPr>
          <p:cNvPr id="21" name="text_348"/>
          <p:cNvSpPr txBox="1"/>
          <p:nvPr/>
        </p:nvSpPr>
        <p:spPr>
          <a:xfrm>
            <a:off x="818388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Threshold optimization</a:t>
            </a:r>
            <a:endParaRPr lang="en-US" sz="1600" dirty="0"/>
          </a:p>
        </p:txBody>
      </p:sp>
      <p:sp>
        <p:nvSpPr>
          <p:cNvPr id="22" name="box_349"/>
          <p:cNvSpPr txBox="1"/>
          <p:nvPr/>
        </p:nvSpPr>
        <p:spPr>
          <a:xfrm>
            <a:off x="8183880" y="4206240"/>
            <a:ext cx="96012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PR curve</a:t>
            </a:r>
            <a:endParaRPr lang="en-US" sz="1200" dirty="0"/>
          </a:p>
        </p:txBody>
      </p:sp>
      <p:sp>
        <p:nvSpPr>
          <p:cNvPr id="23" name="box_350"/>
          <p:cNvSpPr txBox="1"/>
          <p:nvPr/>
        </p:nvSpPr>
        <p:spPr>
          <a:xfrm>
            <a:off x="9464040" y="4206240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Max F1</a:t>
            </a:r>
            <a:endParaRPr lang="en-US" sz="1200" dirty="0"/>
          </a:p>
        </p:txBody>
      </p:sp>
      <p:sp>
        <p:nvSpPr>
          <p:cNvPr id="24" name="box_351"/>
          <p:cNvSpPr txBox="1"/>
          <p:nvPr/>
        </p:nvSpPr>
        <p:spPr>
          <a:xfrm>
            <a:off x="10652760" y="4206240"/>
            <a:ext cx="731520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Cutoff</a:t>
            </a:r>
            <a:endParaRPr lang="en-US" sz="1200" dirty="0"/>
          </a:p>
        </p:txBody>
      </p:sp>
      <p:sp>
        <p:nvSpPr>
          <p:cNvPr id="25" name="arrow_352"/>
          <p:cNvSpPr/>
          <p:nvPr/>
        </p:nvSpPr>
        <p:spPr>
          <a:xfrm>
            <a:off x="9162288" y="4480560"/>
            <a:ext cx="283464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6" name="arrow_353"/>
          <p:cNvSpPr/>
          <p:nvPr/>
        </p:nvSpPr>
        <p:spPr>
          <a:xfrm>
            <a:off x="10351008" y="4480560"/>
            <a:ext cx="283464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7" name="text_354"/>
          <p:cNvSpPr txBox="1"/>
          <p:nvPr/>
        </p:nvSpPr>
        <p:spPr>
          <a:xfrm>
            <a:off x="8183880" y="49377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Scans the validation precision-recall curve for the threshold that maximizes F1, instead of the default 0.50.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Experimental Results &amp; Benchmarks</a:t>
            </a:r>
            <a:endParaRPr lang="en-US" sz="3400" dirty="0"/>
          </a:p>
        </p:txBody>
      </p:sp>
      <p:graphicFrame>
        <p:nvGraphicFramePr>
          <p:cNvPr id="16" name="result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07238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Variant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F1-Score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ROC-AUC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PR-AUC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Inference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LightGBM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Full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90.17%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67.49%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71.73%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69.54%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0.9344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0.7476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~14 ms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XGBoost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Full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88.90%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62.70%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71.73%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66.91%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0.9232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0.7183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~13 ms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Logistic Regression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Full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88.08%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58.83%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79.32%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67.56%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0.9257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0.6918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~8 ms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LightGBM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No PageValues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74.68%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33.84%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64.66%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44.42%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0.7837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0.3722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~12 ms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XGBoost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No PageValues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76.81%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34.46%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53.40%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41.89%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0.7552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0.3335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~16 ms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Logistic Regression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No PageValues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70.91%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30.66%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68.06%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42.28%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0.7556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0.3327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~7 ms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Dummy Baseline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Both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15.65%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15.65%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100.0%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27.06%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0.5000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0.1565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&lt;1 ms</a:t>
                      </a:r>
                      <a:endParaRPr lang="en-US" sz="13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card_355"/>
          <p:cNvSpPr/>
          <p:nvPr/>
        </p:nvSpPr>
        <p:spPr>
          <a:xfrm>
            <a:off x="548640" y="4754880"/>
            <a:ext cx="548640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5" name="iconbg_356"/>
          <p:cNvSpPr/>
          <p:nvPr/>
        </p:nvSpPr>
        <p:spPr>
          <a:xfrm>
            <a:off x="777240" y="498348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con_357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5149901"/>
            <a:ext cx="307238" cy="307238"/>
          </a:xfrm>
          <a:prstGeom prst="rect">
            <a:avLst/>
          </a:prstGeom>
        </p:spPr>
      </p:pic>
      <p:sp>
        <p:nvSpPr>
          <p:cNvPr id="7" name="text_358"/>
          <p:cNvSpPr txBox="1"/>
          <p:nvPr/>
        </p:nvSpPr>
        <p:spPr>
          <a:xfrm>
            <a:off x="1600200" y="489204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Top performer: LightGBM (Full)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ROC-AUC 0.9344 · F1 69.54% · Accuracy 90.17%</a:t>
            </a:r>
            <a:endParaRPr lang="en-US" sz="1400" dirty="0"/>
          </a:p>
        </p:txBody>
      </p:sp>
      <p:sp>
        <p:nvSpPr>
          <p:cNvPr id="8" name="card_359"/>
          <p:cNvSpPr/>
          <p:nvPr/>
        </p:nvSpPr>
        <p:spPr>
          <a:xfrm>
            <a:off x="6126480" y="4754880"/>
            <a:ext cx="548640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9" name="iconbg_360"/>
          <p:cNvSpPr/>
          <p:nvPr/>
        </p:nvSpPr>
        <p:spPr>
          <a:xfrm>
            <a:off x="6355080" y="4983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_361" descr="FaLightbul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1" y="5149901"/>
            <a:ext cx="307238" cy="307238"/>
          </a:xfrm>
          <a:prstGeom prst="rect">
            <a:avLst/>
          </a:prstGeom>
        </p:spPr>
      </p:pic>
      <p:sp>
        <p:nvSpPr>
          <p:cNvPr id="11" name="text_362"/>
          <p:cNvSpPr txBox="1"/>
          <p:nvPr/>
        </p:nvSpPr>
        <p:spPr>
          <a:xfrm>
            <a:off x="7178040" y="489204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Cold-start still works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No-PageValues LightGBM reaches ROC-AUC 0.7837 without the leaky signal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Application Screens (Schematic)</a:t>
            </a:r>
            <a:endParaRPr lang="en-US" sz="3400" dirty="0"/>
          </a:p>
        </p:txBody>
      </p:sp>
      <p:sp>
        <p:nvSpPr>
          <p:cNvPr id="3" name="window_363"/>
          <p:cNvSpPr/>
          <p:nvPr/>
        </p:nvSpPr>
        <p:spPr>
          <a:xfrm>
            <a:off x="548640" y="1417320"/>
            <a:ext cx="2651760" cy="356616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/>
        </p:spPr>
      </p:sp>
      <p:sp>
        <p:nvSpPr>
          <p:cNvPr id="4" name="titlebar_364"/>
          <p:cNvSpPr/>
          <p:nvPr/>
        </p:nvSpPr>
        <p:spPr>
          <a:xfrm>
            <a:off x="594360" y="1463040"/>
            <a:ext cx="2560320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dot_365"/>
          <p:cNvSpPr/>
          <p:nvPr/>
        </p:nvSpPr>
        <p:spPr>
          <a:xfrm>
            <a:off x="685800" y="1545336"/>
            <a:ext cx="100584" cy="10058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dot_366"/>
          <p:cNvSpPr/>
          <p:nvPr/>
        </p:nvSpPr>
        <p:spPr>
          <a:xfrm>
            <a:off x="841248" y="1545336"/>
            <a:ext cx="100584" cy="10058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dot_367"/>
          <p:cNvSpPr/>
          <p:nvPr/>
        </p:nvSpPr>
        <p:spPr>
          <a:xfrm>
            <a:off x="996696" y="1545336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text_368"/>
          <p:cNvSpPr txBox="1"/>
          <p:nvPr/>
        </p:nvSpPr>
        <p:spPr>
          <a:xfrm>
            <a:off x="1371600" y="1508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/</a:t>
            </a:r>
            <a:endParaRPr lang="en-US" sz="1000" dirty="0"/>
          </a:p>
        </p:txBody>
      </p:sp>
      <p:sp>
        <p:nvSpPr>
          <p:cNvPr id="9" name="box_369"/>
          <p:cNvSpPr txBox="1"/>
          <p:nvPr/>
        </p:nvSpPr>
        <p:spPr>
          <a:xfrm>
            <a:off x="685800" y="1874520"/>
            <a:ext cx="1051560" cy="256032"/>
          </a:xfrm>
          <a:prstGeom prst="roundRect">
            <a:avLst>
              <a:gd name="adj" fmla="val 17857"/>
            </a:avLst>
          </a:prstGeom>
          <a:solidFill>
            <a:schemeClr val="accent4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Backend: ok</a:t>
            </a:r>
            <a:endParaRPr lang="en-US" sz="1000" dirty="0"/>
          </a:p>
        </p:txBody>
      </p:sp>
      <p:sp>
        <p:nvSpPr>
          <p:cNvPr id="10" name="box_370"/>
          <p:cNvSpPr txBox="1"/>
          <p:nvPr/>
        </p:nvSpPr>
        <p:spPr>
          <a:xfrm>
            <a:off x="685800" y="2286000"/>
            <a:ext cx="2377440" cy="1051560"/>
          </a:xfrm>
          <a:prstGeom prst="roundRect">
            <a:avLst>
              <a:gd name="adj" fmla="val 4348"/>
            </a:avLst>
          </a:prstGeom>
          <a:solidFill>
            <a:schemeClr val="accent1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Purchase Prediction</a:t>
            </a:r>
            <a:endParaRPr lang="en-US" sz="1200" dirty="0"/>
          </a:p>
        </p:txBody>
      </p:sp>
      <p:sp>
        <p:nvSpPr>
          <p:cNvPr id="11" name="box_371"/>
          <p:cNvSpPr txBox="1"/>
          <p:nvPr/>
        </p:nvSpPr>
        <p:spPr>
          <a:xfrm>
            <a:off x="685800" y="3474720"/>
            <a:ext cx="2377440" cy="1051560"/>
          </a:xfrm>
          <a:prstGeom prst="roundRect">
            <a:avLst>
              <a:gd name="adj" fmla="val 4348"/>
            </a:avLst>
          </a:prstGeom>
          <a:solidFill>
            <a:schemeClr val="accent2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Sales Forecasting</a:t>
            </a:r>
            <a:endParaRPr lang="en-US" sz="1200" dirty="0"/>
          </a:p>
        </p:txBody>
      </p:sp>
      <p:sp>
        <p:nvSpPr>
          <p:cNvPr id="12" name="window_372"/>
          <p:cNvSpPr/>
          <p:nvPr/>
        </p:nvSpPr>
        <p:spPr>
          <a:xfrm>
            <a:off x="3355848" y="1417320"/>
            <a:ext cx="2651760" cy="356616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/>
        </p:spPr>
      </p:sp>
      <p:sp>
        <p:nvSpPr>
          <p:cNvPr id="13" name="titlebar_373"/>
          <p:cNvSpPr/>
          <p:nvPr/>
        </p:nvSpPr>
        <p:spPr>
          <a:xfrm>
            <a:off x="3401568" y="1463040"/>
            <a:ext cx="2560320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dot_374"/>
          <p:cNvSpPr/>
          <p:nvPr/>
        </p:nvSpPr>
        <p:spPr>
          <a:xfrm>
            <a:off x="3493008" y="1545336"/>
            <a:ext cx="100584" cy="10058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dot_375"/>
          <p:cNvSpPr/>
          <p:nvPr/>
        </p:nvSpPr>
        <p:spPr>
          <a:xfrm>
            <a:off x="3648456" y="1545336"/>
            <a:ext cx="100584" cy="10058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dot_376"/>
          <p:cNvSpPr/>
          <p:nvPr/>
        </p:nvSpPr>
        <p:spPr>
          <a:xfrm>
            <a:off x="3803904" y="1545336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_377"/>
          <p:cNvSpPr txBox="1"/>
          <p:nvPr/>
        </p:nvSpPr>
        <p:spPr>
          <a:xfrm>
            <a:off x="4178808" y="1508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/purchase</a:t>
            </a:r>
            <a:endParaRPr lang="en-US" sz="1000" dirty="0"/>
          </a:p>
        </p:txBody>
      </p:sp>
      <p:sp>
        <p:nvSpPr>
          <p:cNvPr id="18" name="input_378"/>
          <p:cNvSpPr/>
          <p:nvPr/>
        </p:nvSpPr>
        <p:spPr>
          <a:xfrm>
            <a:off x="3493008" y="1874520"/>
            <a:ext cx="1188720" cy="219456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9" name="input_379"/>
          <p:cNvSpPr/>
          <p:nvPr/>
        </p:nvSpPr>
        <p:spPr>
          <a:xfrm>
            <a:off x="3493008" y="2221992"/>
            <a:ext cx="1188720" cy="219456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0" name="input_380"/>
          <p:cNvSpPr/>
          <p:nvPr/>
        </p:nvSpPr>
        <p:spPr>
          <a:xfrm>
            <a:off x="3493008" y="2569464"/>
            <a:ext cx="1188720" cy="219456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1" name="input_381"/>
          <p:cNvSpPr/>
          <p:nvPr/>
        </p:nvSpPr>
        <p:spPr>
          <a:xfrm>
            <a:off x="3493008" y="2916936"/>
            <a:ext cx="1188720" cy="219456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2" name="input_382"/>
          <p:cNvSpPr/>
          <p:nvPr/>
        </p:nvSpPr>
        <p:spPr>
          <a:xfrm>
            <a:off x="3493008" y="3264408"/>
            <a:ext cx="1188720" cy="219456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3" name="box_383"/>
          <p:cNvSpPr txBox="1"/>
          <p:nvPr/>
        </p:nvSpPr>
        <p:spPr>
          <a:xfrm>
            <a:off x="3493008" y="3703320"/>
            <a:ext cx="1188720" cy="237744"/>
          </a:xfrm>
          <a:prstGeom prst="roundRect">
            <a:avLst>
              <a:gd name="adj" fmla="val 19231"/>
            </a:avLst>
          </a:prstGeom>
          <a:solidFill>
            <a:schemeClr val="accent6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Model ▾</a:t>
            </a:r>
            <a:endParaRPr lang="en-US" sz="1000" dirty="0"/>
          </a:p>
        </p:txBody>
      </p:sp>
      <p:sp>
        <p:nvSpPr>
          <p:cNvPr id="24" name="box_384"/>
          <p:cNvSpPr txBox="1"/>
          <p:nvPr/>
        </p:nvSpPr>
        <p:spPr>
          <a:xfrm>
            <a:off x="3493008" y="4023360"/>
            <a:ext cx="1188720" cy="237744"/>
          </a:xfrm>
          <a:prstGeom prst="roundRect">
            <a:avLst>
              <a:gd name="adj" fmla="val 19231"/>
            </a:avLst>
          </a:prstGeom>
          <a:solidFill>
            <a:schemeClr val="accent6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Variant ▾</a:t>
            </a:r>
            <a:endParaRPr lang="en-US" sz="1000" dirty="0"/>
          </a:p>
        </p:txBody>
      </p:sp>
      <p:sp>
        <p:nvSpPr>
          <p:cNvPr id="25" name="result_385"/>
          <p:cNvSpPr/>
          <p:nvPr/>
        </p:nvSpPr>
        <p:spPr>
          <a:xfrm>
            <a:off x="4791456" y="1874520"/>
            <a:ext cx="1078992" cy="2377440"/>
          </a:xfrm>
          <a:prstGeom prst="roundRect">
            <a:avLst>
              <a:gd name="adj" fmla="val 5085"/>
            </a:avLst>
          </a:prstGeom>
          <a:solidFill>
            <a:schemeClr val="tx1"/>
          </a:solidFill>
          <a:ln/>
        </p:spPr>
      </p:sp>
      <p:sp>
        <p:nvSpPr>
          <p:cNvPr id="26" name="text_386"/>
          <p:cNvSpPr txBox="1"/>
          <p:nvPr/>
        </p:nvSpPr>
        <p:spPr>
          <a:xfrm>
            <a:off x="4864608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Purchase</a:t>
            </a:r>
            <a:endParaRPr lang="en-US" sz="1200" dirty="0"/>
          </a:p>
        </p:txBody>
      </p:sp>
      <p:sp>
        <p:nvSpPr>
          <p:cNvPr id="27" name="text_387"/>
          <p:cNvSpPr txBox="1"/>
          <p:nvPr/>
        </p:nvSpPr>
        <p:spPr>
          <a:xfrm>
            <a:off x="4864608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Probability</a:t>
            </a:r>
            <a:endParaRPr lang="en-US" sz="1000" dirty="0"/>
          </a:p>
        </p:txBody>
      </p:sp>
      <p:sp>
        <p:nvSpPr>
          <p:cNvPr id="28" name="bar_388"/>
          <p:cNvSpPr/>
          <p:nvPr/>
        </p:nvSpPr>
        <p:spPr>
          <a:xfrm>
            <a:off x="4864608" y="2743200"/>
            <a:ext cx="914400" cy="14630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9" name="bar_389"/>
          <p:cNvSpPr/>
          <p:nvPr/>
        </p:nvSpPr>
        <p:spPr>
          <a:xfrm>
            <a:off x="4864608" y="2743200"/>
            <a:ext cx="594360" cy="1463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0" name="text_390"/>
          <p:cNvSpPr txBox="1"/>
          <p:nvPr/>
        </p:nvSpPr>
        <p:spPr>
          <a:xfrm>
            <a:off x="4864608" y="3108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Threshold</a:t>
            </a:r>
            <a:endParaRPr lang="en-US" sz="1000" dirty="0"/>
          </a:p>
        </p:txBody>
      </p:sp>
      <p:sp>
        <p:nvSpPr>
          <p:cNvPr id="31" name="window_391"/>
          <p:cNvSpPr/>
          <p:nvPr/>
        </p:nvSpPr>
        <p:spPr>
          <a:xfrm>
            <a:off x="6163056" y="1417320"/>
            <a:ext cx="2651760" cy="356616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/>
        </p:spPr>
      </p:sp>
      <p:sp>
        <p:nvSpPr>
          <p:cNvPr id="32" name="titlebar_392"/>
          <p:cNvSpPr/>
          <p:nvPr/>
        </p:nvSpPr>
        <p:spPr>
          <a:xfrm>
            <a:off x="6208776" y="1463040"/>
            <a:ext cx="2560320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3" name="dot_393"/>
          <p:cNvSpPr/>
          <p:nvPr/>
        </p:nvSpPr>
        <p:spPr>
          <a:xfrm>
            <a:off x="6300216" y="1545336"/>
            <a:ext cx="100584" cy="10058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4" name="dot_394"/>
          <p:cNvSpPr/>
          <p:nvPr/>
        </p:nvSpPr>
        <p:spPr>
          <a:xfrm>
            <a:off x="6455664" y="1545336"/>
            <a:ext cx="100584" cy="10058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5" name="dot_395"/>
          <p:cNvSpPr/>
          <p:nvPr/>
        </p:nvSpPr>
        <p:spPr>
          <a:xfrm>
            <a:off x="6611112" y="1545336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6" name="text_396"/>
          <p:cNvSpPr txBox="1"/>
          <p:nvPr/>
        </p:nvSpPr>
        <p:spPr>
          <a:xfrm>
            <a:off x="6986016" y="1508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/upload</a:t>
            </a:r>
            <a:endParaRPr lang="en-US" sz="1000" dirty="0"/>
          </a:p>
        </p:txBody>
      </p:sp>
      <p:sp>
        <p:nvSpPr>
          <p:cNvPr id="37" name="dropzone_397"/>
          <p:cNvSpPr/>
          <p:nvPr/>
        </p:nvSpPr>
        <p:spPr>
          <a:xfrm>
            <a:off x="6300216" y="1874520"/>
            <a:ext cx="2377440" cy="1097280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dash"/>
          </a:ln>
        </p:spPr>
      </p:sp>
      <p:pic>
        <p:nvPicPr>
          <p:cNvPr id="38" name="icon_398" descr="uplo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2011680"/>
            <a:ext cx="457200" cy="457200"/>
          </a:xfrm>
          <a:prstGeom prst="rect">
            <a:avLst/>
          </a:prstGeom>
        </p:spPr>
      </p:pic>
      <p:sp>
        <p:nvSpPr>
          <p:cNvPr id="39" name="text_399"/>
          <p:cNvSpPr txBox="1"/>
          <p:nvPr/>
        </p:nvSpPr>
        <p:spPr>
          <a:xfrm>
            <a:off x="6300216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Drop CSV / XLSX</a:t>
            </a:r>
            <a:endParaRPr lang="en-US" sz="1100" dirty="0"/>
          </a:p>
        </p:txBody>
      </p:sp>
      <p:sp>
        <p:nvSpPr>
          <p:cNvPr id="40" name="box_400"/>
          <p:cNvSpPr txBox="1"/>
          <p:nvPr/>
        </p:nvSpPr>
        <p:spPr>
          <a:xfrm>
            <a:off x="6300216" y="3200400"/>
            <a:ext cx="2377440" cy="27432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Date column</a:t>
            </a:r>
            <a:endParaRPr lang="en-US" sz="1000" dirty="0"/>
          </a:p>
        </p:txBody>
      </p:sp>
      <p:sp>
        <p:nvSpPr>
          <p:cNvPr id="41" name="box_401"/>
          <p:cNvSpPr txBox="1"/>
          <p:nvPr/>
        </p:nvSpPr>
        <p:spPr>
          <a:xfrm>
            <a:off x="6300216" y="3566160"/>
            <a:ext cx="2377440" cy="27432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Sales column</a:t>
            </a:r>
            <a:endParaRPr lang="en-US" sz="1000" dirty="0"/>
          </a:p>
        </p:txBody>
      </p:sp>
      <p:sp>
        <p:nvSpPr>
          <p:cNvPr id="42" name="box_402"/>
          <p:cNvSpPr txBox="1"/>
          <p:nvPr/>
        </p:nvSpPr>
        <p:spPr>
          <a:xfrm>
            <a:off x="6300216" y="3931920"/>
            <a:ext cx="2377440" cy="27432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Group column</a:t>
            </a:r>
            <a:endParaRPr lang="en-US" sz="1000" dirty="0"/>
          </a:p>
        </p:txBody>
      </p:sp>
      <p:sp>
        <p:nvSpPr>
          <p:cNvPr id="43" name="box_403"/>
          <p:cNvSpPr txBox="1"/>
          <p:nvPr/>
        </p:nvSpPr>
        <p:spPr>
          <a:xfrm>
            <a:off x="6300216" y="4297680"/>
            <a:ext cx="2377440" cy="27432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Dataset ID</a:t>
            </a:r>
            <a:endParaRPr lang="en-US" sz="1000" dirty="0"/>
          </a:p>
        </p:txBody>
      </p:sp>
      <p:sp>
        <p:nvSpPr>
          <p:cNvPr id="44" name="window_404"/>
          <p:cNvSpPr/>
          <p:nvPr/>
        </p:nvSpPr>
        <p:spPr>
          <a:xfrm>
            <a:off x="8970264" y="1417320"/>
            <a:ext cx="2651760" cy="356616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/>
        </p:spPr>
      </p:sp>
      <p:sp>
        <p:nvSpPr>
          <p:cNvPr id="45" name="titlebar_405"/>
          <p:cNvSpPr/>
          <p:nvPr/>
        </p:nvSpPr>
        <p:spPr>
          <a:xfrm>
            <a:off x="9015984" y="1463040"/>
            <a:ext cx="2560320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6" name="dot_406"/>
          <p:cNvSpPr/>
          <p:nvPr/>
        </p:nvSpPr>
        <p:spPr>
          <a:xfrm>
            <a:off x="9107424" y="1545336"/>
            <a:ext cx="100584" cy="10058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7" name="dot_407"/>
          <p:cNvSpPr/>
          <p:nvPr/>
        </p:nvSpPr>
        <p:spPr>
          <a:xfrm>
            <a:off x="9262872" y="1545336"/>
            <a:ext cx="100584" cy="10058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8" name="dot_408"/>
          <p:cNvSpPr/>
          <p:nvPr/>
        </p:nvSpPr>
        <p:spPr>
          <a:xfrm>
            <a:off x="9418320" y="1545336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9" name="text_409"/>
          <p:cNvSpPr txBox="1"/>
          <p:nvPr/>
        </p:nvSpPr>
        <p:spPr>
          <a:xfrm>
            <a:off x="9793224" y="1508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/forecast</a:t>
            </a:r>
            <a:endParaRPr lang="en-US" sz="1000" dirty="0"/>
          </a:p>
        </p:txBody>
      </p:sp>
      <p:sp>
        <p:nvSpPr>
          <p:cNvPr id="50" name="box_410"/>
          <p:cNvSpPr txBox="1"/>
          <p:nvPr/>
        </p:nvSpPr>
        <p:spPr>
          <a:xfrm>
            <a:off x="9107424" y="1874520"/>
            <a:ext cx="749808" cy="237744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Dataset ID</a:t>
            </a:r>
            <a:endParaRPr lang="en-US" sz="1000" dirty="0"/>
          </a:p>
        </p:txBody>
      </p:sp>
      <p:sp>
        <p:nvSpPr>
          <p:cNvPr id="51" name="box_411"/>
          <p:cNvSpPr txBox="1"/>
          <p:nvPr/>
        </p:nvSpPr>
        <p:spPr>
          <a:xfrm>
            <a:off x="9912096" y="1874520"/>
            <a:ext cx="749808" cy="237744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Metric</a:t>
            </a:r>
            <a:endParaRPr lang="en-US" sz="1000" dirty="0"/>
          </a:p>
        </p:txBody>
      </p:sp>
      <p:sp>
        <p:nvSpPr>
          <p:cNvPr id="52" name="box_412"/>
          <p:cNvSpPr txBox="1"/>
          <p:nvPr/>
        </p:nvSpPr>
        <p:spPr>
          <a:xfrm>
            <a:off x="10716768" y="1874520"/>
            <a:ext cx="749808" cy="237744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Horizon</a:t>
            </a:r>
            <a:endParaRPr lang="en-US" sz="1000" dirty="0"/>
          </a:p>
        </p:txBody>
      </p:sp>
      <p:sp>
        <p:nvSpPr>
          <p:cNvPr id="53" name="seg_413"/>
          <p:cNvSpPr/>
          <p:nvPr/>
        </p:nvSpPr>
        <p:spPr>
          <a:xfrm>
            <a:off x="9198864" y="2331720"/>
            <a:ext cx="0" cy="219456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54" name="seg_414"/>
          <p:cNvSpPr/>
          <p:nvPr/>
        </p:nvSpPr>
        <p:spPr>
          <a:xfrm>
            <a:off x="9198864" y="4526280"/>
            <a:ext cx="21945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55" name="seg_415"/>
          <p:cNvSpPr/>
          <p:nvPr/>
        </p:nvSpPr>
        <p:spPr>
          <a:xfrm flipV="1">
            <a:off x="9198864" y="3429000"/>
            <a:ext cx="263347" cy="329184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56" name="seg_416"/>
          <p:cNvSpPr/>
          <p:nvPr/>
        </p:nvSpPr>
        <p:spPr>
          <a:xfrm>
            <a:off x="9462211" y="3429000"/>
            <a:ext cx="263347" cy="175565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57" name="seg_417"/>
          <p:cNvSpPr/>
          <p:nvPr/>
        </p:nvSpPr>
        <p:spPr>
          <a:xfrm flipV="1">
            <a:off x="9725558" y="3165653"/>
            <a:ext cx="263347" cy="438912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58" name="seg_418"/>
          <p:cNvSpPr/>
          <p:nvPr/>
        </p:nvSpPr>
        <p:spPr>
          <a:xfrm>
            <a:off x="9988906" y="3165653"/>
            <a:ext cx="307238" cy="153619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59" name="seg_419"/>
          <p:cNvSpPr/>
          <p:nvPr/>
        </p:nvSpPr>
        <p:spPr>
          <a:xfrm flipV="1">
            <a:off x="10296144" y="2946197"/>
            <a:ext cx="263347" cy="373075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60" name="seg_420"/>
          <p:cNvSpPr/>
          <p:nvPr/>
        </p:nvSpPr>
        <p:spPr>
          <a:xfrm flipV="1">
            <a:off x="10559491" y="2726741"/>
            <a:ext cx="351130" cy="219456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dash"/>
          </a:ln>
        </p:spPr>
      </p:sp>
      <p:sp>
        <p:nvSpPr>
          <p:cNvPr id="61" name="seg_421"/>
          <p:cNvSpPr/>
          <p:nvPr/>
        </p:nvSpPr>
        <p:spPr>
          <a:xfrm flipV="1">
            <a:off x="10910621" y="2551176"/>
            <a:ext cx="373075" cy="175565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dash"/>
          </a:ln>
        </p:spPr>
      </p:sp>
      <p:sp>
        <p:nvSpPr>
          <p:cNvPr id="62" name="text_422"/>
          <p:cNvSpPr txBox="1"/>
          <p:nvPr/>
        </p:nvSpPr>
        <p:spPr>
          <a:xfrm>
            <a:off x="9244584" y="42519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history</a:t>
            </a:r>
            <a:endParaRPr lang="en-US" sz="1000" dirty="0"/>
          </a:p>
        </p:txBody>
      </p:sp>
      <p:sp>
        <p:nvSpPr>
          <p:cNvPr id="63" name="text_423"/>
          <p:cNvSpPr txBox="1"/>
          <p:nvPr/>
        </p:nvSpPr>
        <p:spPr>
          <a:xfrm>
            <a:off x="10707624" y="4251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5"/>
                </a:solidFill>
              </a:rPr>
              <a:t>forecast</a:t>
            </a:r>
            <a:endParaRPr lang="en-US" sz="1000" dirty="0"/>
          </a:p>
        </p:txBody>
      </p:sp>
      <p:sp>
        <p:nvSpPr>
          <p:cNvPr id="64" name="text_424"/>
          <p:cNvSpPr txBox="1"/>
          <p:nvPr/>
        </p:nvSpPr>
        <p:spPr>
          <a:xfrm>
            <a:off x="548640" y="51663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Main Dashboard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Live API health badge and summary cards for both engines.</a:t>
            </a:r>
            <a:endParaRPr lang="en-US" sz="1400" dirty="0"/>
          </a:p>
        </p:txBody>
      </p:sp>
      <p:sp>
        <p:nvSpPr>
          <p:cNvPr id="65" name="text_425"/>
          <p:cNvSpPr txBox="1"/>
          <p:nvPr/>
        </p:nvSpPr>
        <p:spPr>
          <a:xfrm>
            <a:off x="3355848" y="51663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Purchase Prediction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12 session inputs, model and variant toggles, probability bar and threshold.</a:t>
            </a:r>
            <a:endParaRPr lang="en-US" sz="1400" dirty="0"/>
          </a:p>
        </p:txBody>
      </p:sp>
      <p:sp>
        <p:nvSpPr>
          <p:cNvPr id="66" name="text_426"/>
          <p:cNvSpPr txBox="1"/>
          <p:nvPr/>
        </p:nvSpPr>
        <p:spPr>
          <a:xfrm>
            <a:off x="6163056" y="51663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Dataset Upload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Drag-and-drop with instant schema detection and a unique Dataset ID.</a:t>
            </a:r>
            <a:endParaRPr lang="en-US" sz="1400" dirty="0"/>
          </a:p>
        </p:txBody>
      </p:sp>
      <p:sp>
        <p:nvSpPr>
          <p:cNvPr id="67" name="text_427"/>
          <p:cNvSpPr txBox="1"/>
          <p:nvPr/>
        </p:nvSpPr>
        <p:spPr>
          <a:xfrm>
            <a:off x="8970264" y="51663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Sales Forecasting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Choose metric, group and horizon; interactive Recharts forecast line.</a:t>
            </a:r>
            <a:endParaRPr lang="en-US" sz="1400" dirty="0"/>
          </a:p>
        </p:txBody>
      </p:sp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Key Advantages &amp; Innovations</a:t>
            </a:r>
            <a:endParaRPr lang="en-US" sz="3400" dirty="0"/>
          </a:p>
        </p:txBody>
      </p:sp>
      <p:sp>
        <p:nvSpPr>
          <p:cNvPr id="3" name="card_428"/>
          <p:cNvSpPr/>
          <p:nvPr/>
        </p:nvSpPr>
        <p:spPr>
          <a:xfrm>
            <a:off x="548640" y="141732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4" name="iconbg_429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_430" descr="FaCub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1824228"/>
            <a:ext cx="329184" cy="329184"/>
          </a:xfrm>
          <a:prstGeom prst="rect">
            <a:avLst/>
          </a:prstGeom>
        </p:spPr>
      </p:pic>
      <p:sp>
        <p:nvSpPr>
          <p:cNvPr id="6" name="text_431"/>
          <p:cNvSpPr txBox="1"/>
          <p:nvPr/>
        </p:nvSpPr>
        <p:spPr>
          <a:xfrm>
            <a:off x="164592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Dual-Engine Synergy</a:t>
            </a:r>
            <a:endParaRPr lang="en-US" sz="1800" dirty="0"/>
          </a:p>
        </p:txBody>
      </p:sp>
      <p:sp>
        <p:nvSpPr>
          <p:cNvPr id="7" name="text_432"/>
          <p:cNvSpPr txBox="1"/>
          <p:nvPr/>
        </p:nvSpPr>
        <p:spPr>
          <a:xfrm>
            <a:off x="777240" y="2514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Visitor intent and business forecasting in a single dashboard.</a:t>
            </a:r>
            <a:endParaRPr lang="en-US" sz="1400" dirty="0"/>
          </a:p>
        </p:txBody>
      </p:sp>
      <p:sp>
        <p:nvSpPr>
          <p:cNvPr id="8" name="card_433"/>
          <p:cNvSpPr/>
          <p:nvPr/>
        </p:nvSpPr>
        <p:spPr>
          <a:xfrm>
            <a:off x="4297680" y="141732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9" name="iconbg_434"/>
          <p:cNvSpPr/>
          <p:nvPr/>
        </p:nvSpPr>
        <p:spPr>
          <a:xfrm>
            <a:off x="4526280" y="16459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_435" descr="FaMag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588" y="1824228"/>
            <a:ext cx="329184" cy="329184"/>
          </a:xfrm>
          <a:prstGeom prst="rect">
            <a:avLst/>
          </a:prstGeom>
        </p:spPr>
      </p:pic>
      <p:sp>
        <p:nvSpPr>
          <p:cNvPr id="11" name="text_436"/>
          <p:cNvSpPr txBox="1"/>
          <p:nvPr/>
        </p:nvSpPr>
        <p:spPr>
          <a:xfrm>
            <a:off x="539496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True Cold-Start Capability</a:t>
            </a:r>
            <a:endParaRPr lang="en-US" sz="1800" dirty="0"/>
          </a:p>
        </p:txBody>
      </p:sp>
      <p:sp>
        <p:nvSpPr>
          <p:cNvPr id="12" name="text_437"/>
          <p:cNvSpPr txBox="1"/>
          <p:nvPr/>
        </p:nvSpPr>
        <p:spPr>
          <a:xfrm>
            <a:off x="4526280" y="2514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Dual pipelines serve early-funnel visitors where PageValues is unavailable.</a:t>
            </a:r>
            <a:endParaRPr lang="en-US" sz="1400" dirty="0"/>
          </a:p>
        </p:txBody>
      </p:sp>
      <p:sp>
        <p:nvSpPr>
          <p:cNvPr id="13" name="card_438"/>
          <p:cNvSpPr/>
          <p:nvPr/>
        </p:nvSpPr>
        <p:spPr>
          <a:xfrm>
            <a:off x="8046720" y="141732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14" name="iconbg_439"/>
          <p:cNvSpPr/>
          <p:nvPr/>
        </p:nvSpPr>
        <p:spPr>
          <a:xfrm>
            <a:off x="8275320" y="16459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_440" descr="FaShieldA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628" y="1824228"/>
            <a:ext cx="329184" cy="329184"/>
          </a:xfrm>
          <a:prstGeom prst="rect">
            <a:avLst/>
          </a:prstGeom>
        </p:spPr>
      </p:pic>
      <p:sp>
        <p:nvSpPr>
          <p:cNvPr id="16" name="text_441"/>
          <p:cNvSpPr txBox="1"/>
          <p:nvPr/>
        </p:nvSpPr>
        <p:spPr>
          <a:xfrm>
            <a:off x="914400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Leakage-Guarded</a:t>
            </a:r>
            <a:endParaRPr lang="en-US" sz="1800" dirty="0"/>
          </a:p>
        </p:txBody>
      </p:sp>
      <p:sp>
        <p:nvSpPr>
          <p:cNvPr id="17" name="text_442"/>
          <p:cNvSpPr txBox="1"/>
          <p:nvPr/>
        </p:nvSpPr>
        <p:spPr>
          <a:xfrm>
            <a:off x="8275320" y="2514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Verified by 5-fold cross-validated leakage audits.</a:t>
            </a:r>
            <a:endParaRPr lang="en-US" sz="1400" dirty="0"/>
          </a:p>
        </p:txBody>
      </p:sp>
      <p:sp>
        <p:nvSpPr>
          <p:cNvPr id="18" name="card_443"/>
          <p:cNvSpPr/>
          <p:nvPr/>
        </p:nvSpPr>
        <p:spPr>
          <a:xfrm>
            <a:off x="548640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19" name="iconbg_444"/>
          <p:cNvSpPr/>
          <p:nvPr/>
        </p:nvSpPr>
        <p:spPr>
          <a:xfrm>
            <a:off x="777240" y="406908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con_445" descr="FaBo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" y="4247388"/>
            <a:ext cx="329184" cy="329184"/>
          </a:xfrm>
          <a:prstGeom prst="rect">
            <a:avLst/>
          </a:prstGeom>
        </p:spPr>
      </p:pic>
      <p:sp>
        <p:nvSpPr>
          <p:cNvPr id="21" name="text_446"/>
          <p:cNvSpPr txBox="1"/>
          <p:nvPr/>
        </p:nvSpPr>
        <p:spPr>
          <a:xfrm>
            <a:off x="1645920" y="40690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Real-Time Ready</a:t>
            </a:r>
            <a:endParaRPr lang="en-US" sz="1800" dirty="0"/>
          </a:p>
        </p:txBody>
      </p:sp>
      <p:sp>
        <p:nvSpPr>
          <p:cNvPr id="22" name="text_447"/>
          <p:cNvSpPr txBox="1"/>
          <p:nvPr/>
        </p:nvSpPr>
        <p:spPr>
          <a:xfrm>
            <a:off x="777240" y="4937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Sub-20 ms inference suits Shopify, WooCommerce and Magento storefronts.</a:t>
            </a:r>
            <a:endParaRPr lang="en-US" sz="1400" dirty="0"/>
          </a:p>
        </p:txBody>
      </p:sp>
      <p:sp>
        <p:nvSpPr>
          <p:cNvPr id="23" name="card_448"/>
          <p:cNvSpPr/>
          <p:nvPr/>
        </p:nvSpPr>
        <p:spPr>
          <a:xfrm>
            <a:off x="6172200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24" name="iconbg_449"/>
          <p:cNvSpPr/>
          <p:nvPr/>
        </p:nvSpPr>
        <p:spPr>
          <a:xfrm>
            <a:off x="6400800" y="406908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icon_450" descr="FaDollarSig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9108" y="4247388"/>
            <a:ext cx="329184" cy="329184"/>
          </a:xfrm>
          <a:prstGeom prst="rect">
            <a:avLst/>
          </a:prstGeom>
        </p:spPr>
      </p:pic>
      <p:sp>
        <p:nvSpPr>
          <p:cNvPr id="26" name="text_451"/>
          <p:cNvSpPr txBox="1"/>
          <p:nvPr/>
        </p:nvSpPr>
        <p:spPr>
          <a:xfrm>
            <a:off x="7269480" y="40690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Cost-Efficient Personalization</a:t>
            </a:r>
            <a:endParaRPr lang="en-US" sz="1800" dirty="0"/>
          </a:p>
        </p:txBody>
      </p:sp>
      <p:sp>
        <p:nvSpPr>
          <p:cNvPr id="27" name="text_452"/>
          <p:cNvSpPr txBox="1"/>
          <p:nvPr/>
        </p:nvSpPr>
        <p:spPr>
          <a:xfrm>
            <a:off x="6400800" y="4937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Low-footprint boosted trees replace costly LLMs and deep nets.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Real-World Applications</a:t>
            </a:r>
            <a:endParaRPr lang="en-US" sz="3400" dirty="0"/>
          </a:p>
        </p:txBody>
      </p:sp>
      <p:sp>
        <p:nvSpPr>
          <p:cNvPr id="3" name="text_45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Purchase probability drives the action</a:t>
            </a:r>
            <a:endParaRPr lang="en-US" sz="1600" dirty="0"/>
          </a:p>
        </p:txBody>
      </p:sp>
      <p:sp>
        <p:nvSpPr>
          <p:cNvPr id="4" name="box_454"/>
          <p:cNvSpPr txBox="1"/>
          <p:nvPr/>
        </p:nvSpPr>
        <p:spPr>
          <a:xfrm>
            <a:off x="548640" y="1920240"/>
            <a:ext cx="3826764" cy="548640"/>
          </a:xfrm>
          <a:prstGeom prst="roundRect">
            <a:avLst>
              <a:gd name="adj" fmla="val 8333"/>
            </a:avLst>
          </a:prstGeom>
          <a:solidFill>
            <a:schemeClr val="accent5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Low intent</a:t>
            </a:r>
            <a:endParaRPr lang="en-US" sz="1500" dirty="0"/>
          </a:p>
        </p:txBody>
      </p:sp>
      <p:sp>
        <p:nvSpPr>
          <p:cNvPr id="5" name="text_455"/>
          <p:cNvSpPr txBox="1"/>
          <p:nvPr/>
        </p:nvSpPr>
        <p:spPr>
          <a:xfrm>
            <a:off x="548640" y="2514600"/>
            <a:ext cx="3826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Exclude from costly remarketing</a:t>
            </a:r>
            <a:endParaRPr lang="en-US" sz="1400" dirty="0"/>
          </a:p>
        </p:txBody>
      </p:sp>
      <p:sp>
        <p:nvSpPr>
          <p:cNvPr id="6" name="box_456"/>
          <p:cNvSpPr txBox="1"/>
          <p:nvPr/>
        </p:nvSpPr>
        <p:spPr>
          <a:xfrm>
            <a:off x="4421124" y="1920240"/>
            <a:ext cx="2720340" cy="548640"/>
          </a:xfrm>
          <a:prstGeom prst="roundRect">
            <a:avLst>
              <a:gd name="adj" fmla="val 8333"/>
            </a:avLst>
          </a:prstGeom>
          <a:solidFill>
            <a:schemeClr val="accent3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Hesitation window</a:t>
            </a:r>
            <a:endParaRPr lang="en-US" sz="1500" dirty="0"/>
          </a:p>
        </p:txBody>
      </p:sp>
      <p:sp>
        <p:nvSpPr>
          <p:cNvPr id="7" name="text_457"/>
          <p:cNvSpPr txBox="1"/>
          <p:nvPr/>
        </p:nvSpPr>
        <p:spPr>
          <a:xfrm>
            <a:off x="4421124" y="2514600"/>
            <a:ext cx="2720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Trigger exit-intent incentive</a:t>
            </a:r>
            <a:endParaRPr lang="en-US" sz="1400" dirty="0"/>
          </a:p>
        </p:txBody>
      </p:sp>
      <p:sp>
        <p:nvSpPr>
          <p:cNvPr id="8" name="box_458"/>
          <p:cNvSpPr txBox="1"/>
          <p:nvPr/>
        </p:nvSpPr>
        <p:spPr>
          <a:xfrm>
            <a:off x="7187184" y="1920240"/>
            <a:ext cx="4379976" cy="548640"/>
          </a:xfrm>
          <a:prstGeom prst="roundRect">
            <a:avLst>
              <a:gd name="adj" fmla="val 8333"/>
            </a:avLst>
          </a:prstGeom>
          <a:solidFill>
            <a:schemeClr val="accent4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High intent</a:t>
            </a:r>
            <a:endParaRPr lang="en-US" sz="1500" dirty="0"/>
          </a:p>
        </p:txBody>
      </p:sp>
      <p:sp>
        <p:nvSpPr>
          <p:cNvPr id="9" name="text_459"/>
          <p:cNvSpPr txBox="1"/>
          <p:nvPr/>
        </p:nvSpPr>
        <p:spPr>
          <a:xfrm>
            <a:off x="7187184" y="2514600"/>
            <a:ext cx="4379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Re-order product grids</a:t>
            </a:r>
            <a:endParaRPr lang="en-US" sz="1400" dirty="0"/>
          </a:p>
        </p:txBody>
      </p:sp>
      <p:sp>
        <p:nvSpPr>
          <p:cNvPr id="10" name="text_460"/>
          <p:cNvSpPr txBox="1"/>
          <p:nvPr/>
        </p:nvSpPr>
        <p:spPr>
          <a:xfrm>
            <a:off x="548640" y="2834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0%</a:t>
            </a:r>
            <a:endParaRPr lang="en-US" sz="1200" dirty="0"/>
          </a:p>
        </p:txBody>
      </p:sp>
      <p:sp>
        <p:nvSpPr>
          <p:cNvPr id="11" name="text_461"/>
          <p:cNvSpPr txBox="1"/>
          <p:nvPr/>
        </p:nvSpPr>
        <p:spPr>
          <a:xfrm>
            <a:off x="4023360" y="2834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35%</a:t>
            </a:r>
            <a:endParaRPr lang="en-US" sz="1200" dirty="0"/>
          </a:p>
        </p:txBody>
      </p:sp>
      <p:sp>
        <p:nvSpPr>
          <p:cNvPr id="12" name="text_462"/>
          <p:cNvSpPr txBox="1"/>
          <p:nvPr/>
        </p:nvSpPr>
        <p:spPr>
          <a:xfrm>
            <a:off x="6793992" y="2834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60%</a:t>
            </a:r>
            <a:endParaRPr lang="en-US" sz="1200" dirty="0"/>
          </a:p>
        </p:txBody>
      </p:sp>
      <p:sp>
        <p:nvSpPr>
          <p:cNvPr id="13" name="text_463"/>
          <p:cNvSpPr txBox="1"/>
          <p:nvPr/>
        </p:nvSpPr>
        <p:spPr>
          <a:xfrm>
            <a:off x="10881360" y="2834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bg2"/>
                </a:solidFill>
              </a:rPr>
              <a:t>100%</a:t>
            </a:r>
            <a:endParaRPr lang="en-US" sz="1200" dirty="0"/>
          </a:p>
        </p:txBody>
      </p:sp>
      <p:sp>
        <p:nvSpPr>
          <p:cNvPr id="14" name="card_464"/>
          <p:cNvSpPr/>
          <p:nvPr/>
        </p:nvSpPr>
        <p:spPr>
          <a:xfrm>
            <a:off x="548640" y="3429000"/>
            <a:ext cx="2651760" cy="283464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15" name="iconbg_465"/>
          <p:cNvSpPr/>
          <p:nvPr/>
        </p:nvSpPr>
        <p:spPr>
          <a:xfrm>
            <a:off x="731520" y="36118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con_466" descr="FaShoppingC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54" y="3766414"/>
            <a:ext cx="285293" cy="285293"/>
          </a:xfrm>
          <a:prstGeom prst="rect">
            <a:avLst/>
          </a:prstGeom>
        </p:spPr>
      </p:pic>
      <p:sp>
        <p:nvSpPr>
          <p:cNvPr id="17" name="text_467"/>
          <p:cNvSpPr txBox="1"/>
          <p:nvPr/>
        </p:nvSpPr>
        <p:spPr>
          <a:xfrm>
            <a:off x="731520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Cart Abandonment Intervention</a:t>
            </a:r>
            <a:endParaRPr lang="en-US" sz="1600" dirty="0"/>
          </a:p>
        </p:txBody>
      </p:sp>
      <p:sp>
        <p:nvSpPr>
          <p:cNvPr id="18" name="text_468"/>
          <p:cNvSpPr txBox="1"/>
          <p:nvPr/>
        </p:nvSpPr>
        <p:spPr>
          <a:xfrm>
            <a:off x="731520" y="4937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Offer free shipping or a 10% coupon only inside the hesitation window.</a:t>
            </a:r>
            <a:endParaRPr lang="en-US" sz="1400" dirty="0"/>
          </a:p>
        </p:txBody>
      </p:sp>
      <p:sp>
        <p:nvSpPr>
          <p:cNvPr id="19" name="card_469"/>
          <p:cNvSpPr/>
          <p:nvPr/>
        </p:nvSpPr>
        <p:spPr>
          <a:xfrm>
            <a:off x="3355848" y="3429000"/>
            <a:ext cx="2651760" cy="283464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20" name="iconbg_470"/>
          <p:cNvSpPr/>
          <p:nvPr/>
        </p:nvSpPr>
        <p:spPr>
          <a:xfrm>
            <a:off x="3538728" y="36118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con_471" descr="FaBullhor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3262" y="3766414"/>
            <a:ext cx="285293" cy="285293"/>
          </a:xfrm>
          <a:prstGeom prst="rect">
            <a:avLst/>
          </a:prstGeom>
        </p:spPr>
      </p:pic>
      <p:sp>
        <p:nvSpPr>
          <p:cNvPr id="22" name="text_472"/>
          <p:cNvSpPr txBox="1"/>
          <p:nvPr/>
        </p:nvSpPr>
        <p:spPr>
          <a:xfrm>
            <a:off x="3538728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 Spend Optimization</a:t>
            </a:r>
            <a:endParaRPr lang="en-US" sz="1600" dirty="0"/>
          </a:p>
        </p:txBody>
      </p:sp>
      <p:sp>
        <p:nvSpPr>
          <p:cNvPr id="23" name="text_473"/>
          <p:cNvSpPr txBox="1"/>
          <p:nvPr/>
        </p:nvSpPr>
        <p:spPr>
          <a:xfrm>
            <a:off x="3538728" y="4937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Skip near-zero-probability visitors in Google and Meta remarketing.</a:t>
            </a:r>
            <a:endParaRPr lang="en-US" sz="1400" dirty="0"/>
          </a:p>
        </p:txBody>
      </p:sp>
      <p:sp>
        <p:nvSpPr>
          <p:cNvPr id="24" name="card_474"/>
          <p:cNvSpPr/>
          <p:nvPr/>
        </p:nvSpPr>
        <p:spPr>
          <a:xfrm>
            <a:off x="6163056" y="3429000"/>
            <a:ext cx="2651760" cy="283464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25" name="iconbg_475"/>
          <p:cNvSpPr/>
          <p:nvPr/>
        </p:nvSpPr>
        <p:spPr>
          <a:xfrm>
            <a:off x="6345936" y="36118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icon_476" descr="FaTag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470" y="3766414"/>
            <a:ext cx="285293" cy="285293"/>
          </a:xfrm>
          <a:prstGeom prst="rect">
            <a:avLst/>
          </a:prstGeom>
        </p:spPr>
      </p:pic>
      <p:sp>
        <p:nvSpPr>
          <p:cNvPr id="27" name="text_477"/>
          <p:cNvSpPr txBox="1"/>
          <p:nvPr/>
        </p:nvSpPr>
        <p:spPr>
          <a:xfrm>
            <a:off x="6345936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Real-Time Merchandising</a:t>
            </a:r>
            <a:endParaRPr lang="en-US" sz="1600" dirty="0"/>
          </a:p>
        </p:txBody>
      </p:sp>
      <p:sp>
        <p:nvSpPr>
          <p:cNvPr id="28" name="text_478"/>
          <p:cNvSpPr txBox="1"/>
          <p:nvPr/>
        </p:nvSpPr>
        <p:spPr>
          <a:xfrm>
            <a:off x="6345936" y="4937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Re-order product grids for visitors showing high commercial intent.</a:t>
            </a:r>
            <a:endParaRPr lang="en-US" sz="1400" dirty="0"/>
          </a:p>
        </p:txBody>
      </p:sp>
      <p:sp>
        <p:nvSpPr>
          <p:cNvPr id="29" name="card_479"/>
          <p:cNvSpPr/>
          <p:nvPr/>
        </p:nvSpPr>
        <p:spPr>
          <a:xfrm>
            <a:off x="8970264" y="3429000"/>
            <a:ext cx="2651760" cy="283464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30" name="iconbg_480"/>
          <p:cNvSpPr/>
          <p:nvPr/>
        </p:nvSpPr>
        <p:spPr>
          <a:xfrm>
            <a:off x="9153144" y="361188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1" name="icon_481" descr="FaTru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7678" y="3766414"/>
            <a:ext cx="285293" cy="285293"/>
          </a:xfrm>
          <a:prstGeom prst="rect">
            <a:avLst/>
          </a:prstGeom>
        </p:spPr>
      </p:pic>
      <p:sp>
        <p:nvSpPr>
          <p:cNvPr id="32" name="text_482"/>
          <p:cNvSpPr txBox="1"/>
          <p:nvPr/>
        </p:nvSpPr>
        <p:spPr>
          <a:xfrm>
            <a:off x="9153144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Inventory Replenishment</a:t>
            </a:r>
            <a:endParaRPr lang="en-US" sz="1600" dirty="0"/>
          </a:p>
        </p:txBody>
      </p:sp>
      <p:sp>
        <p:nvSpPr>
          <p:cNvPr id="33" name="text_483"/>
          <p:cNvSpPr txBox="1"/>
          <p:nvPr/>
        </p:nvSpPr>
        <p:spPr>
          <a:xfrm>
            <a:off x="9153144" y="4937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Link forecast spikes to supplier lead times to set reorder points.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Limitations</a:t>
            </a:r>
            <a:endParaRPr lang="en-US" sz="3400" dirty="0"/>
          </a:p>
        </p:txBody>
      </p:sp>
      <p:sp>
        <p:nvSpPr>
          <p:cNvPr id="3" name="card_484"/>
          <p:cNvSpPr/>
          <p:nvPr/>
        </p:nvSpPr>
        <p:spPr>
          <a:xfrm>
            <a:off x="548640" y="141732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4" name="iconbg_485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icon_486" descr="FaChart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1881835"/>
            <a:ext cx="351130" cy="351130"/>
          </a:xfrm>
          <a:prstGeom prst="rect">
            <a:avLst/>
          </a:prstGeom>
        </p:spPr>
      </p:pic>
      <p:sp>
        <p:nvSpPr>
          <p:cNvPr id="6" name="text_487"/>
          <p:cNvSpPr txBox="1"/>
          <p:nvPr/>
        </p:nvSpPr>
        <p:spPr>
          <a:xfrm>
            <a:off x="1783080" y="16916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Custom-data forecasting</a:t>
            </a:r>
            <a:endParaRPr lang="en-US" sz="2000" dirty="0"/>
          </a:p>
        </p:txBody>
      </p:sp>
      <p:sp>
        <p:nvSpPr>
          <p:cNvPr id="7" name="text_488"/>
          <p:cNvSpPr txBox="1"/>
          <p:nvPr/>
        </p:nvSpPr>
        <p:spPr>
          <a:xfrm>
            <a:off x="822960" y="26060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The UCI clickstream set is real benchmark data, but forecasting relies on user-uploaded tabular sheets.</a:t>
            </a:r>
            <a:endParaRPr lang="en-US" sz="1400" dirty="0"/>
          </a:p>
        </p:txBody>
      </p:sp>
      <p:sp>
        <p:nvSpPr>
          <p:cNvPr id="8" name="card_489"/>
          <p:cNvSpPr/>
          <p:nvPr/>
        </p:nvSpPr>
        <p:spPr>
          <a:xfrm>
            <a:off x="6172200" y="141732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9" name="iconbg_490"/>
          <p:cNvSpPr/>
          <p:nvPr/>
        </p:nvSpPr>
        <p:spPr>
          <a:xfrm>
            <a:off x="6446520" y="16916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_491" descr="FaMousePoint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715" y="1881835"/>
            <a:ext cx="351130" cy="351130"/>
          </a:xfrm>
          <a:prstGeom prst="rect">
            <a:avLst/>
          </a:prstGeom>
        </p:spPr>
      </p:pic>
      <p:sp>
        <p:nvSpPr>
          <p:cNvPr id="11" name="text_492"/>
          <p:cNvSpPr txBox="1"/>
          <p:nvPr/>
        </p:nvSpPr>
        <p:spPr>
          <a:xfrm>
            <a:off x="7406640" y="16916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Session-level aggregation</a:t>
            </a:r>
            <a:endParaRPr lang="en-US" sz="2000" dirty="0"/>
          </a:p>
        </p:txBody>
      </p:sp>
      <p:sp>
        <p:nvSpPr>
          <p:cNvPr id="12" name="text_493"/>
          <p:cNvSpPr txBox="1"/>
          <p:nvPr/>
        </p:nvSpPr>
        <p:spPr>
          <a:xfrm>
            <a:off x="6446520" y="26060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Aggregated session metrics only, not raw millisecond-level mouse or hover events.</a:t>
            </a:r>
            <a:endParaRPr lang="en-US" sz="1400" dirty="0"/>
          </a:p>
        </p:txBody>
      </p:sp>
      <p:sp>
        <p:nvSpPr>
          <p:cNvPr id="13" name="card_494"/>
          <p:cNvSpPr/>
          <p:nvPr/>
        </p:nvSpPr>
        <p:spPr>
          <a:xfrm>
            <a:off x="548640" y="388620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14" name="iconbg_495"/>
          <p:cNvSpPr/>
          <p:nvPr/>
        </p:nvSpPr>
        <p:spPr>
          <a:xfrm>
            <a:off x="822960" y="41605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_496" descr="FaGlob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55" y="4350715"/>
            <a:ext cx="351130" cy="351130"/>
          </a:xfrm>
          <a:prstGeom prst="rect">
            <a:avLst/>
          </a:prstGeom>
        </p:spPr>
      </p:pic>
      <p:sp>
        <p:nvSpPr>
          <p:cNvPr id="16" name="text_497"/>
          <p:cNvSpPr txBox="1"/>
          <p:nvPr/>
        </p:nvSpPr>
        <p:spPr>
          <a:xfrm>
            <a:off x="1783080" y="41605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 external covariates</a:t>
            </a:r>
            <a:endParaRPr lang="en-US" sz="2000" dirty="0"/>
          </a:p>
        </p:txBody>
      </p:sp>
      <p:sp>
        <p:nvSpPr>
          <p:cNvPr id="17" name="text_498"/>
          <p:cNvSpPr txBox="1"/>
          <p:nvPr/>
        </p:nvSpPr>
        <p:spPr>
          <a:xfrm>
            <a:off x="822960" y="50749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Inflation, competitor pricing and local weather are not yet ingested by the forecaster.</a:t>
            </a:r>
            <a:endParaRPr lang="en-US" sz="1400" dirty="0"/>
          </a:p>
        </p:txBody>
      </p:sp>
      <p:sp>
        <p:nvSpPr>
          <p:cNvPr id="18" name="card_499"/>
          <p:cNvSpPr/>
          <p:nvPr/>
        </p:nvSpPr>
        <p:spPr>
          <a:xfrm>
            <a:off x="6172200" y="388620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19" name="iconbg_500"/>
          <p:cNvSpPr/>
          <p:nvPr/>
        </p:nvSpPr>
        <p:spPr>
          <a:xfrm>
            <a:off x="6446520" y="41605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icon_501" descr="FaUserSecre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6715" y="4350715"/>
            <a:ext cx="351130" cy="351130"/>
          </a:xfrm>
          <a:prstGeom prst="rect">
            <a:avLst/>
          </a:prstGeom>
        </p:spPr>
      </p:pic>
      <p:sp>
        <p:nvSpPr>
          <p:cNvPr id="21" name="text_502"/>
          <p:cNvSpPr txBox="1"/>
          <p:nvPr/>
        </p:nvSpPr>
        <p:spPr>
          <a:xfrm>
            <a:off x="7406640" y="41605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 long-term user IDs</a:t>
            </a:r>
            <a:endParaRPr lang="en-US" sz="2000" dirty="0"/>
          </a:p>
        </p:txBody>
      </p:sp>
      <p:sp>
        <p:nvSpPr>
          <p:cNvPr id="22" name="text_503"/>
          <p:cNvSpPr txBox="1"/>
          <p:nvPr/>
        </p:nvSpPr>
        <p:spPr>
          <a:xfrm>
            <a:off x="6446520" y="50749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GDPR and cookie limits prevent persistent tracking across devices.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Future Scope</a:t>
            </a:r>
            <a:endParaRPr lang="en-US" sz="3400" dirty="0"/>
          </a:p>
        </p:txBody>
      </p:sp>
      <p:sp>
        <p:nvSpPr>
          <p:cNvPr id="3" name="box_504"/>
          <p:cNvSpPr txBox="1"/>
          <p:nvPr/>
        </p:nvSpPr>
        <p:spPr>
          <a:xfrm>
            <a:off x="548640" y="1417320"/>
            <a:ext cx="237744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Browser clicks</a:t>
            </a:r>
            <a:endParaRPr lang="en-US" sz="1400" dirty="0"/>
          </a:p>
        </p:txBody>
      </p:sp>
      <p:sp>
        <p:nvSpPr>
          <p:cNvPr id="4" name="arrow_505"/>
          <p:cNvSpPr/>
          <p:nvPr/>
        </p:nvSpPr>
        <p:spPr>
          <a:xfrm>
            <a:off x="2971800" y="1714500"/>
            <a:ext cx="42672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5" name="box_506"/>
          <p:cNvSpPr txBox="1"/>
          <p:nvPr/>
        </p:nvSpPr>
        <p:spPr>
          <a:xfrm>
            <a:off x="3444240" y="1417320"/>
            <a:ext cx="2377440" cy="594360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WebSocket / Kafka</a:t>
            </a:r>
            <a:endParaRPr lang="en-US" sz="1400" dirty="0"/>
          </a:p>
        </p:txBody>
      </p:sp>
      <p:sp>
        <p:nvSpPr>
          <p:cNvPr id="6" name="arrow_507"/>
          <p:cNvSpPr/>
          <p:nvPr/>
        </p:nvSpPr>
        <p:spPr>
          <a:xfrm>
            <a:off x="5867400" y="1714500"/>
            <a:ext cx="42672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7" name="box_508"/>
          <p:cNvSpPr txBox="1"/>
          <p:nvPr/>
        </p:nvSpPr>
        <p:spPr>
          <a:xfrm>
            <a:off x="6339840" y="1417320"/>
            <a:ext cx="237744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Model inference</a:t>
            </a:r>
            <a:endParaRPr lang="en-US" sz="1400" dirty="0"/>
          </a:p>
        </p:txBody>
      </p:sp>
      <p:sp>
        <p:nvSpPr>
          <p:cNvPr id="8" name="arrow_509"/>
          <p:cNvSpPr/>
          <p:nvPr/>
        </p:nvSpPr>
        <p:spPr>
          <a:xfrm>
            <a:off x="8763000" y="1714500"/>
            <a:ext cx="42672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9" name="box_510"/>
          <p:cNvSpPr txBox="1"/>
          <p:nvPr/>
        </p:nvSpPr>
        <p:spPr>
          <a:xfrm>
            <a:off x="9235440" y="1417320"/>
            <a:ext cx="237744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Live dashboard</a:t>
            </a:r>
            <a:endParaRPr lang="en-US" sz="1400" dirty="0"/>
          </a:p>
        </p:txBody>
      </p:sp>
      <p:sp>
        <p:nvSpPr>
          <p:cNvPr id="10" name="text_511"/>
          <p:cNvSpPr txBox="1"/>
          <p:nvPr/>
        </p:nvSpPr>
        <p:spPr>
          <a:xfrm>
            <a:off x="548640" y="20848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2"/>
                </a:solidFill>
              </a:rPr>
              <a:t>Planned streaming architecture</a:t>
            </a:r>
            <a:endParaRPr lang="en-US" sz="1200" dirty="0"/>
          </a:p>
        </p:txBody>
      </p:sp>
      <p:sp>
        <p:nvSpPr>
          <p:cNvPr id="11" name="timeline_512"/>
          <p:cNvSpPr/>
          <p:nvPr/>
        </p:nvSpPr>
        <p:spPr>
          <a:xfrm>
            <a:off x="1783080" y="2926080"/>
            <a:ext cx="877824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12" name="iconbg_513"/>
          <p:cNvSpPr/>
          <p:nvPr/>
        </p:nvSpPr>
        <p:spPr>
          <a:xfrm>
            <a:off x="1371600" y="25146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_514" descr="FaStre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70" y="2728570"/>
            <a:ext cx="395021" cy="395021"/>
          </a:xfrm>
          <a:prstGeom prst="rect">
            <a:avLst/>
          </a:prstGeom>
        </p:spPr>
      </p:pic>
      <p:sp>
        <p:nvSpPr>
          <p:cNvPr id="14" name="card_515"/>
          <p:cNvSpPr/>
          <p:nvPr/>
        </p:nvSpPr>
        <p:spPr>
          <a:xfrm>
            <a:off x="457200" y="3566160"/>
            <a:ext cx="2651760" cy="26974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15" name="text_516"/>
          <p:cNvSpPr txBox="1"/>
          <p:nvPr/>
        </p:nvSpPr>
        <p:spPr>
          <a:xfrm>
            <a:off x="64008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Streaming Ingestion</a:t>
            </a:r>
            <a:endParaRPr lang="en-US" sz="1600" dirty="0"/>
          </a:p>
        </p:txBody>
      </p:sp>
      <p:sp>
        <p:nvSpPr>
          <p:cNvPr id="16" name="text_517"/>
          <p:cNvSpPr txBox="1"/>
          <p:nvPr/>
        </p:nvSpPr>
        <p:spPr>
          <a:xfrm>
            <a:off x="640080" y="44348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Click-by-click telemetry via WebSockets or Apache Kafka into inference.</a:t>
            </a:r>
            <a:endParaRPr lang="en-US" sz="1400" dirty="0"/>
          </a:p>
        </p:txBody>
      </p:sp>
      <p:sp>
        <p:nvSpPr>
          <p:cNvPr id="17" name="iconbg_518"/>
          <p:cNvSpPr/>
          <p:nvPr/>
        </p:nvSpPr>
        <p:spPr>
          <a:xfrm>
            <a:off x="4297680" y="25146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con_519" descr="FaBra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650" y="2728570"/>
            <a:ext cx="395021" cy="395021"/>
          </a:xfrm>
          <a:prstGeom prst="rect">
            <a:avLst/>
          </a:prstGeom>
        </p:spPr>
      </p:pic>
      <p:sp>
        <p:nvSpPr>
          <p:cNvPr id="19" name="card_520"/>
          <p:cNvSpPr/>
          <p:nvPr/>
        </p:nvSpPr>
        <p:spPr>
          <a:xfrm>
            <a:off x="3383280" y="3566160"/>
            <a:ext cx="2651760" cy="26974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20" name="text_521"/>
          <p:cNvSpPr txBox="1"/>
          <p:nvPr/>
        </p:nvSpPr>
        <p:spPr>
          <a:xfrm>
            <a:off x="356616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Deep Learning &amp; TFT</a:t>
            </a:r>
            <a:endParaRPr lang="en-US" sz="1600" dirty="0"/>
          </a:p>
        </p:txBody>
      </p:sp>
      <p:sp>
        <p:nvSpPr>
          <p:cNvPr id="21" name="text_522"/>
          <p:cNvSpPr txBox="1"/>
          <p:nvPr/>
        </p:nvSpPr>
        <p:spPr>
          <a:xfrm>
            <a:off x="3566160" y="44348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Temporal Fusion Transformers for hierarchical retail forecasting.</a:t>
            </a:r>
            <a:endParaRPr lang="en-US" sz="1400" dirty="0"/>
          </a:p>
        </p:txBody>
      </p:sp>
      <p:sp>
        <p:nvSpPr>
          <p:cNvPr id="22" name="iconbg_523"/>
          <p:cNvSpPr/>
          <p:nvPr/>
        </p:nvSpPr>
        <p:spPr>
          <a:xfrm>
            <a:off x="7223760" y="251460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con_524" descr="FaFlas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730" y="2728570"/>
            <a:ext cx="395021" cy="395021"/>
          </a:xfrm>
          <a:prstGeom prst="rect">
            <a:avLst/>
          </a:prstGeom>
        </p:spPr>
      </p:pic>
      <p:sp>
        <p:nvSpPr>
          <p:cNvPr id="24" name="card_525"/>
          <p:cNvSpPr/>
          <p:nvPr/>
        </p:nvSpPr>
        <p:spPr>
          <a:xfrm>
            <a:off x="6309360" y="3566160"/>
            <a:ext cx="2651760" cy="26974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25" name="text_526"/>
          <p:cNvSpPr txBox="1"/>
          <p:nvPr/>
        </p:nvSpPr>
        <p:spPr>
          <a:xfrm>
            <a:off x="649224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Automated A/B Testing</a:t>
            </a:r>
            <a:endParaRPr lang="en-US" sz="1600" dirty="0"/>
          </a:p>
        </p:txBody>
      </p:sp>
      <p:sp>
        <p:nvSpPr>
          <p:cNvPr id="26" name="text_527"/>
          <p:cNvSpPr txBox="1"/>
          <p:nvPr/>
        </p:nvSpPr>
        <p:spPr>
          <a:xfrm>
            <a:off x="6492240" y="44348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Measure conversion lift of ML-nudged users against a control group.</a:t>
            </a:r>
            <a:endParaRPr lang="en-US" sz="1400" dirty="0"/>
          </a:p>
        </p:txBody>
      </p:sp>
      <p:sp>
        <p:nvSpPr>
          <p:cNvPr id="27" name="iconbg_528"/>
          <p:cNvSpPr/>
          <p:nvPr/>
        </p:nvSpPr>
        <p:spPr>
          <a:xfrm>
            <a:off x="10149840" y="251460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8" name="icon_529" descr="FaClou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810" y="2728570"/>
            <a:ext cx="395021" cy="395021"/>
          </a:xfrm>
          <a:prstGeom prst="rect">
            <a:avLst/>
          </a:prstGeom>
        </p:spPr>
      </p:pic>
      <p:sp>
        <p:nvSpPr>
          <p:cNvPr id="29" name="card_530"/>
          <p:cNvSpPr/>
          <p:nvPr/>
        </p:nvSpPr>
        <p:spPr>
          <a:xfrm>
            <a:off x="9235440" y="3566160"/>
            <a:ext cx="2651760" cy="26974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30" name="text_531"/>
          <p:cNvSpPr txBox="1"/>
          <p:nvPr/>
        </p:nvSpPr>
        <p:spPr>
          <a:xfrm>
            <a:off x="941832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Cloud Deployment</a:t>
            </a:r>
            <a:endParaRPr lang="en-US" sz="1600" dirty="0"/>
          </a:p>
        </p:txBody>
      </p:sp>
      <p:sp>
        <p:nvSpPr>
          <p:cNvPr id="31" name="text_532"/>
          <p:cNvSpPr txBox="1"/>
          <p:nvPr/>
        </p:nvSpPr>
        <p:spPr>
          <a:xfrm>
            <a:off x="9418320" y="44348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Docker containers on AWS ECS or Google Cloud Run with autoscaling.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card_533"/>
          <p:cNvSpPr/>
          <p:nvPr/>
        </p:nvSpPr>
        <p:spPr>
          <a:xfrm>
            <a:off x="548640" y="1371600"/>
            <a:ext cx="356616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4" name="text_534"/>
          <p:cNvSpPr txBox="1"/>
          <p:nvPr/>
        </p:nvSpPr>
        <p:spPr>
          <a:xfrm>
            <a:off x="548640" y="14630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</a:rPr>
              <a:t>90.17%</a:t>
            </a:r>
            <a:endParaRPr lang="en-US" sz="4800" dirty="0"/>
          </a:p>
        </p:txBody>
      </p:sp>
      <p:sp>
        <p:nvSpPr>
          <p:cNvPr id="5" name="text_535"/>
          <p:cNvSpPr txBox="1"/>
          <p:nvPr/>
        </p:nvSpPr>
        <p:spPr>
          <a:xfrm>
            <a:off x="54864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Accuracy (LightGBM)</a:t>
            </a:r>
            <a:endParaRPr lang="en-US" sz="1400" dirty="0"/>
          </a:p>
        </p:txBody>
      </p:sp>
      <p:sp>
        <p:nvSpPr>
          <p:cNvPr id="6" name="card_536"/>
          <p:cNvSpPr/>
          <p:nvPr/>
        </p:nvSpPr>
        <p:spPr>
          <a:xfrm>
            <a:off x="4297680" y="1371600"/>
            <a:ext cx="356616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7" name="text_537"/>
          <p:cNvSpPr txBox="1"/>
          <p:nvPr/>
        </p:nvSpPr>
        <p:spPr>
          <a:xfrm>
            <a:off x="4297680" y="14630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3"/>
                </a:solidFill>
              </a:rPr>
              <a:t>0.9344</a:t>
            </a:r>
            <a:endParaRPr lang="en-US" sz="4800" dirty="0"/>
          </a:p>
        </p:txBody>
      </p:sp>
      <p:sp>
        <p:nvSpPr>
          <p:cNvPr id="8" name="text_538"/>
          <p:cNvSpPr txBox="1"/>
          <p:nvPr/>
        </p:nvSpPr>
        <p:spPr>
          <a:xfrm>
            <a:off x="429768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ROC-AUC (LightGBM)</a:t>
            </a:r>
            <a:endParaRPr lang="en-US" sz="1400" dirty="0"/>
          </a:p>
        </p:txBody>
      </p:sp>
      <p:sp>
        <p:nvSpPr>
          <p:cNvPr id="9" name="card_539"/>
          <p:cNvSpPr/>
          <p:nvPr/>
        </p:nvSpPr>
        <p:spPr>
          <a:xfrm>
            <a:off x="8046720" y="1371600"/>
            <a:ext cx="356616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10" name="text_540"/>
          <p:cNvSpPr txBox="1"/>
          <p:nvPr/>
        </p:nvSpPr>
        <p:spPr>
          <a:xfrm>
            <a:off x="8046720" y="14630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4"/>
                </a:solidFill>
              </a:rPr>
              <a:t>&lt; 20 ms</a:t>
            </a:r>
            <a:endParaRPr lang="en-US" sz="4800" dirty="0"/>
          </a:p>
        </p:txBody>
      </p:sp>
      <p:sp>
        <p:nvSpPr>
          <p:cNvPr id="11" name="text_541"/>
          <p:cNvSpPr txBox="1"/>
          <p:nvPr/>
        </p:nvSpPr>
        <p:spPr>
          <a:xfrm>
            <a:off x="804672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Inference latency</a:t>
            </a:r>
            <a:endParaRPr lang="en-US" sz="1400" dirty="0"/>
          </a:p>
        </p:txBody>
      </p:sp>
      <p:sp>
        <p:nvSpPr>
          <p:cNvPr id="12" name="iconbg_542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con_543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3376879"/>
            <a:ext cx="241402" cy="241402"/>
          </a:xfrm>
          <a:prstGeom prst="rect">
            <a:avLst/>
          </a:prstGeom>
        </p:spPr>
      </p:pic>
      <p:sp>
        <p:nvSpPr>
          <p:cNvPr id="14" name="text_544"/>
          <p:cNvSpPr txBox="1"/>
          <p:nvPr/>
        </p:nvSpPr>
        <p:spPr>
          <a:xfrm>
            <a:off x="1234440" y="32461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Built and deployed a dual-engine ML intelligence platform</a:t>
            </a:r>
            <a:endParaRPr lang="en-US" sz="1500" dirty="0"/>
          </a:p>
        </p:txBody>
      </p:sp>
      <p:sp>
        <p:nvSpPr>
          <p:cNvPr id="15" name="iconbg_545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con_546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4108399"/>
            <a:ext cx="241402" cy="241402"/>
          </a:xfrm>
          <a:prstGeom prst="rect">
            <a:avLst/>
          </a:prstGeom>
        </p:spPr>
      </p:pic>
      <p:sp>
        <p:nvSpPr>
          <p:cNvPr id="17" name="text_547"/>
          <p:cNvSpPr txBox="1"/>
          <p:nvPr/>
        </p:nvSpPr>
        <p:spPr>
          <a:xfrm>
            <a:off x="1234440" y="39776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Tackled the 15.5% purchase-rate imbalance with boosting and scale_pos_weight</a:t>
            </a:r>
            <a:endParaRPr lang="en-US" sz="1500" dirty="0"/>
          </a:p>
        </p:txBody>
      </p:sp>
      <p:sp>
        <p:nvSpPr>
          <p:cNvPr id="18" name="iconbg_548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con_549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4839919"/>
            <a:ext cx="241402" cy="241402"/>
          </a:xfrm>
          <a:prstGeom prst="rect">
            <a:avLst/>
          </a:prstGeom>
        </p:spPr>
      </p:pic>
      <p:sp>
        <p:nvSpPr>
          <p:cNvPr id="20" name="text_550"/>
          <p:cNvSpPr txBox="1"/>
          <p:nvPr/>
        </p:nvSpPr>
        <p:spPr>
          <a:xfrm>
            <a:off x="1234440" y="470916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Leakage-audited split between full-funnel and cold-start sessions</a:t>
            </a:r>
            <a:endParaRPr lang="en-US" sz="1500" dirty="0"/>
          </a:p>
        </p:txBody>
      </p:sp>
      <p:sp>
        <p:nvSpPr>
          <p:cNvPr id="21" name="iconbg_551"/>
          <p:cNvSpPr/>
          <p:nvPr/>
        </p:nvSpPr>
        <p:spPr>
          <a:xfrm>
            <a:off x="548640" y="54406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icon_552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5571439"/>
            <a:ext cx="241402" cy="241402"/>
          </a:xfrm>
          <a:prstGeom prst="rect">
            <a:avLst/>
          </a:prstGeom>
        </p:spPr>
      </p:pic>
      <p:sp>
        <p:nvSpPr>
          <p:cNvPr id="23" name="text_553"/>
          <p:cNvSpPr txBox="1"/>
          <p:nvPr/>
        </p:nvSpPr>
        <p:spPr>
          <a:xfrm>
            <a:off x="1234440" y="5440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Full-stack delivery: FastAPI + React 18 + Tailwind CSS</a:t>
            </a:r>
            <a:endParaRPr lang="en-US" sz="1500" dirty="0"/>
          </a:p>
        </p:txBody>
      </p:sp>
      <p:sp>
        <p:nvSpPr>
          <p:cNvPr id="24" name="card_554"/>
          <p:cNvSpPr/>
          <p:nvPr/>
        </p:nvSpPr>
        <p:spPr>
          <a:xfrm>
            <a:off x="7406640" y="3246120"/>
            <a:ext cx="420624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/>
        </p:spPr>
      </p:sp>
      <p:sp>
        <p:nvSpPr>
          <p:cNvPr id="25" name="text_555"/>
          <p:cNvSpPr txBox="1"/>
          <p:nvPr/>
        </p:nvSpPr>
        <p:spPr>
          <a:xfrm>
            <a:off x="763524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Final takeaway</a:t>
            </a:r>
            <a:endParaRPr lang="en-US" sz="1800" dirty="0"/>
          </a:p>
        </p:txBody>
      </p:sp>
      <p:sp>
        <p:nvSpPr>
          <p:cNvPr id="26" name="text_556"/>
          <p:cNvSpPr txBox="1"/>
          <p:nvPr/>
        </p:nvSpPr>
        <p:spPr>
          <a:xfrm>
            <a:off x="7635240" y="38404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Transparent, well-engineered tabular ML delivers low-latency, accurate and cost-effective conversion optimization and supply chain planning.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m Intelligence Dark">
  <a:themeElements>
    <a:clrScheme name="Ecom Intelligence Dark">
      <a:dk1>
        <a:srgbClr val="0B1220"/>
      </a:dk1>
      <a:lt1>
        <a:srgbClr val="FFFFFF"/>
      </a:lt1>
      <a:dk2>
        <a:srgbClr val="1A2744"/>
      </a:dk2>
      <a:lt2>
        <a:srgbClr val="B6C3DB"/>
      </a:lt2>
      <a:accent1>
        <a:srgbClr val="22D3EE"/>
      </a:accent1>
      <a:accent2>
        <a:srgbClr val="A78BFA"/>
      </a:accent2>
      <a:accent3>
        <a:srgbClr val="FBBF24"/>
      </a:accent3>
      <a:accent4>
        <a:srgbClr val="34D399"/>
      </a:accent4>
      <a:accent5>
        <a:srgbClr val="FB7185"/>
      </a:accent5>
      <a:accent6>
        <a:srgbClr val="60A5FA"/>
      </a:accent6>
      <a:hlink>
        <a:srgbClr val="22D3EE"/>
      </a:hlink>
      <a:folHlink>
        <a:srgbClr val="A78BFA"/>
      </a:folHlink>
    </a:clrScheme>
    <a:fontScheme name="Ecom Intelligence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2025</Words>
  <Application>Microsoft Office PowerPoint</Application>
  <PresentationFormat>Widescreen</PresentationFormat>
  <Paragraphs>471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Ecom Intelligence Dark</vt:lpstr>
      <vt:lpstr>PowerPoint Presentation</vt:lpstr>
      <vt:lpstr>Introduction</vt:lpstr>
      <vt:lpstr>Problem Statement</vt:lpstr>
      <vt:lpstr>Motivation</vt:lpstr>
      <vt:lpstr>Objectives</vt:lpstr>
      <vt:lpstr>Existing System</vt:lpstr>
      <vt:lpstr>Proposed System: Dual-Engine Platform</vt:lpstr>
      <vt:lpstr>System Architecture</vt:lpstr>
      <vt:lpstr>Methodology &amp; Workflow</vt:lpstr>
      <vt:lpstr>Technology Stack</vt:lpstr>
      <vt:lpstr>System Modules &amp; Components</vt:lpstr>
      <vt:lpstr>Implementation Details</vt:lpstr>
      <vt:lpstr>Dataset &amp; Input Data</vt:lpstr>
      <vt:lpstr>Algorithm &amp; Model Selection</vt:lpstr>
      <vt:lpstr>Experimental Results &amp; Benchmarks</vt:lpstr>
      <vt:lpstr>Application Screens (Schematic)</vt:lpstr>
      <vt:lpstr>Key Advantages &amp; Innovations</vt:lpstr>
      <vt:lpstr>Real-World Applications</vt:lpstr>
      <vt:lpstr>Limitations</vt:lpstr>
      <vt:lpstr>Future Scope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ML Intelligence Platform</dc:title>
  <dc:subject>PptxGenJS Presentation</dc:subject>
  <dc:creator>PptxGenJS</dc:creator>
  <cp:lastModifiedBy>kompalllypavan@outlook.com</cp:lastModifiedBy>
  <cp:revision>4</cp:revision>
  <dcterms:created xsi:type="dcterms:W3CDTF">2026-10-14T05:30:55Z</dcterms:created>
  <dcterms:modified xsi:type="dcterms:W3CDTF">2026-10-14T05:38:24Z</dcterms:modified>
</cp:coreProperties>
</file>